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idea" id="{5d9f9216-0a75-e089-ba6c-539a2684078d}">
          <p14:sldIdLst>
            <p14:sldId id="256"/>
            <p14:sldId id="257"/>
            <p14:sldId id="258"/>
          </p14:sldIdLst>
        </p14:section>
        <p14:section name="How it works" id="{42df4d02-6dc5-6c6d-8f4f-6b019c5b5df5}">
          <p14:sldIdLst>
            <p14:sldId id="259"/>
            <p14:sldId id="260"/>
            <p14:sldId id="261"/>
            <p14:sldId id="262"/>
          </p14:sldIdLst>
        </p14:section>
        <p14:section name="Status and honesty" id="{fda53af8-14e5-615d-3592-6e062b2ad1a3}">
          <p14:sldIdLst>
            <p14:sldId id="263"/>
            <p14:sldId id="264"/>
            <p14:sldId id="265"/>
            <p14:sldId id="266"/>
            <p14:sldId id="267"/>
          </p14:sldIdLst>
        </p14:section>
        <p14:section name="Next" id="{87ea8362-366a-28ce-6152-5a1da645a187}">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VeriFact checks claims and links against real evidence instead of asking a chatbot to guess. Fill in the bracketed line with your name, course and date. Plan for about 12 to 15 minutes: problem, idea, architecture, how a verdict is computed, what is built, how it is evaluated, limitations, then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Three failure modes motivate the project. First, general chatbots answer from memory, so a confident answer has no checkable source. Second, human fact-checkers are accurate but cannot keep up with volume. Third, a single opaque score tells the reader nothing about the reasoning. VeriFact is designed around the opposite: show the work. Keep this slide to about a minute, and do not quote statistics unless you have a source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design principle. The language model is used as a reader, not as a source of facts: it labels each retrieved passage as supporting, refuting or neutral, and must quote the passage. The verdict itself comes from explicit rules over weighted evidence, so it can be inspected and unit-tested. If evidence is thin or conflicting, the system says Unverifiable or Disputed instead of forcing True or False.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browser posts a claim or URL to the FastAPI backend, which stores a row and enqueues a job in Redis. A worker runs the pipeline and calls three kinds of dependencies: an LLM provider for structured reasoning only, evidence sources for retrieval, and an optional ML service for neural reranking and image forensics. Progress events are written to PostgreSQL and streamed to the browser using server-sent events; because the log is persisted, refreshing the page replays it. For local development the same code runs with SQLite and in-process jobs. The full diagram is on the Architecture page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through the nine stages briefly; do not read every card. Highlights worth saying out loud: claims must quote a span of the input so they are tied to what the user wrote; queries deliberately include ones that look for refuting evidence, to reduce confirmation bias; syndicated copies of one wire story are clustered with a shingle-overlap test so one report is one vote; and stance is judged only against retrieved text. Steps 1 to 9 are implemented and tested for text and URL input. Image, audio and video are not yet part of this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behaviours of the code, each covered by a test, not just design intentions. The verbatim-quote rule is the most important: language models can invent plausible justifications, so any supports or refutes judgement whose quoted text is not actually found in the passage is thrown away and not counted. The stricter threshold for health, elections and violence reflects the higher cost of a wrong confident answer there. Mention that the quote check catches fabricated quotes but cannot catch a genuine misreading of a real quote.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exact logic in the aggregation module, with the same constants. Each counted source gets a weight from its credibility prior and its relevance to the claim, halved if the evidence describes a different time period. The share of weighted support p then maps to a verdict. Before that mapping, gates apply: enough independent domains, enough total weight, and a check for genuine conflict. The confidence number is an evidence-strength score that grows with agreement and total weight; it is labelled uncalibrated because it has not yet been fitted on held-out data. Be ready for the question of why these thresholds: they are reasoned defaults, not tuned on a benchmark yet, and tuning them is part of the evaluation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here come from real runs: 26 backend tests (plus one live test that skips without keys), 6 offline ml-service tests plus 2 that load real model weights, and 5 eval-metric tests, which is 39 in total. The two neural models are a MiniLM cross-encoder for reranking and a DeBERTa NLI model; the tests confirm the reranker prefers the relevant passage and the NLI model separates entailment from contradiction. The five keyless sources checked live are Wikipedia, PubMed, GDELT, DuckDuckGo/Bing and direct page fetch. Be clear that these tests show the components behave correctly, not that the whole system is accurate: accuracy is a separate question on the evaluation slide. Update the counts if you add tests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sketch on the right shows how the Evidence Board encodes information: the claim sits in the centre; supporting sources are circles with a plus, refuting sources are diamonds with a minus, neutral sources are dashed circles, and node size reflects the credibility prior. Stance is carried by shape and symbol as well as colour, so it is readable for colour-blind users. In the live demo, hover a node to see the exact excerpt and click through to the source. The Show the reasoning toggle reveals the queries, the weights, and every discarded source with the reason it was discarded. This sketch is an illustration of the design, not a screenshot of a real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trade-off the professor may probe. Rules versus an LLM judge: rules are transparent and testable but cannot weigh nuance. Free-first stack: the project must run with no spending, so it uses Groq's free tier and keyless sources, accepting rate limits and an unofficial DuckDuckGo endpoint that can fail; paid providers such as Anthropic and OpenAI remain in the code behind the model toggle. A separate ML service keeps torch and model weights out of the API image and the pipeline falls back to BM25 when it is absent. The quote check stops fabricated justifications but not misreadings. The BM25 anecdote is a real finding from testing: BM25Okapi produces non-positive IDF on tiny pools, so we switched to BM25Plus.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slide, and it is a strength to say it plainly. The evaluation tooling exists and is unit-tested against hand-computed values: per-class precision, recall and F1, macro-F1, AUROC, expected calibration error and reliability bins. The runner submits each labelled claim to the live API, so it measures the real system, and it treats Unverifiable, Disputed and failures as a separate no-verdict class so refusing to answer is measured rather than hidden. What has not happened is an actual benchmark run, so there is no accuracy to report. If you manage to run even a small LIAR sample before presenting, replace the banner with the real numbers and state the sample size and the caveats: LIAR labels are noisy, live web retrieval drifts over time and can leak answers, and the confidence score is still uncalibrated.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directly; they are also listed in the app's Known limitations page. One more point worth making verbally: submitted text is sent to the chosen LLM provider and to search engines as queries, so confidential material should not be submitted. Unverifiable is a deliberate outcome for fresh or poorly covered events: it means the retrieved evidence was insufficient, not that the claim is false. The image forensics available in the ML service, error-level analysis and noise residuals, are indicators only and each result carries its own limitation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status words match the in-app Architecture page. Milestone 1 is built for text and URLs. For images, the ML service already has error-level analysis and noise-residual forensics with tests, but they are not yet wired into the upload flow, reverse image search, OCR or provenance checks. Audio, video, cross-modal fusion and calibration are future work. The immediate next steps are to run a first small benchmark, calibrate the confidence on a held-out split, and then build the end-to-end image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running app. Suggested order: one well-debunked claim to show the live steps, the Evidence Board and the Show the reasoning panel; one obscure claim that should end Unverifiable, to show the system declining to guess; a health claim to show the stricter threshold; then flip the model toggle to a paid provider to show the not-configured state. Do a dry run beforehand and keep the saved result links as a fallback, because the free LLM tier is rate-limited. Then open the Architecture page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nvSpPr>
        <p:spPr>
          <a:xfrm>
            <a:off x="640080" y="6355080"/>
            <a:ext cx="6400800" cy="274320"/>
          </a:xfrm>
          <a:prstGeom prst="rect">
            <a:avLst/>
          </a:prstGeom>
          <a:noFill/>
          <a:ln/>
        </p:spPr>
        <p:txBody>
          <a:bodyPr wrap="square" lIns="0" tIns="0" rIns="0" bIns="0" rtlCol="0" anchor="ctr"/>
          <a:lstStyle/>
          <a:p>
            <a:pPr indent="0" marL="0">
              <a:buNone/>
            </a:pPr>
            <a:r>
              <a:rPr lang="en-US" sz="1100" dirty="0">
                <a:solidFill>
                  <a:schemeClr val="accent6"/>
                </a:solidFill>
                <a:latin typeface="Courier New" pitchFamily="34" charset="0"/>
                <a:ea typeface="Courier New" pitchFamily="34" charset="-122"/>
                <a:cs typeface="Courier New" pitchFamily="34" charset="-120"/>
              </a:rPr>
              <a:t>VeriFact · Evidence-grounded verification</a:t>
            </a:r>
            <a:endParaRPr lang="en-US" sz="1100" dirty="0"/>
          </a:p>
        </p:txBody>
      </p:sp>
      <p:sp>
        <p:nvSpPr>
          <p:cNvPr id="3" name="Text 1"/>
          <p:cNvSpPr/>
          <p:nvPr>
            <p:ph idx="101" type="title" hasCustomPrompt="1"/>
          </p:nvPr>
        </p:nvSpPr>
        <p:spPr>
          <a:xfrm>
            <a:off x="640080" y="868680"/>
            <a:ext cx="10911535"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8229600" cy="1645920"/>
          </a:xfrm>
          <a:prstGeom prst="rect">
            <a:avLst/>
          </a:prstGeom>
          <a:noFill/>
          <a:ln/>
        </p:spPr>
        <p:txBody>
          <a:bodyPr wrap="square" rtlCol="0"/>
          <a:lstStyle>
            <a:lvl1pPr algn="l" indent="0" marL="0">
              <a:buNone/>
              <a:defRPr lang="en-US" sz="9600" dirty="0">
                <a:solidFill>
                  <a:schemeClr val="bg1"/>
                </a:solidFill>
              </a:defRPr>
            </a:lvl1pPr>
          </a:lstStyle>
          <a:p>
            <a:pPr algn="l" indent="0" marL="0">
              <a:buNone/>
            </a:pPr>
            <a:endParaRPr lang="en-US" sz="9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M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554480"/>
            <a:ext cx="10607040" cy="2377440"/>
          </a:xfrm>
          <a:prstGeom prst="rect">
            <a:avLst/>
          </a:prstGeom>
          <a:noFill/>
          <a:ln/>
        </p:spPr>
        <p:txBody>
          <a:bodyPr wrap="square" rtlCol="0"/>
          <a:lstStyle>
            <a:lvl1pPr algn="l" indent="0" marL="0">
              <a:buNone/>
              <a:defRPr lang="en-US" sz="6000" dirty="0">
                <a:solidFill>
                  <a:schemeClr val="tx1"/>
                </a:solidFill>
              </a:defRPr>
            </a:lvl1pPr>
          </a:lstStyle>
          <a:p>
            <a:pPr algn="l" indent="0" marL="0">
              <a:buNone/>
            </a:pPr>
            <a:endParaRPr lang="en-US" sz="60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latin typeface="Courier New"/>
                <a:ea typeface="Courier New"/>
                <a:cs typeface="Courier New"/>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10607040" cy="1737360"/>
          </a:xfrm>
          <a:prstGeom prst="rect">
            <a:avLst/>
          </a:prstGeom>
          <a:noFill/>
          <a:ln/>
        </p:spPr>
        <p:txBody>
          <a:bodyPr wrap="square" rtlCol="0"/>
          <a:lstStyle>
            <a:lvl1pPr algn="l" indent="0" marL="0">
              <a:buNone/>
              <a:defRPr lang="en-US" sz="6600" dirty="0">
                <a:solidFill>
                  <a:schemeClr val="tx1"/>
                </a:solidFill>
              </a:defRPr>
            </a:lvl1pPr>
          </a:lstStyle>
          <a:p>
            <a:pPr algn="l" indent="0" marL="0">
              <a:buNone/>
            </a:pPr>
            <a:endParaRPr lang="en-US" sz="66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ignal dot"/>
          <p:cNvSpPr/>
          <p:nvPr/>
        </p:nvSpPr>
        <p:spPr>
          <a:xfrm>
            <a:off x="9692640" y="640080"/>
            <a:ext cx="1828800" cy="1828800"/>
          </a:xfrm>
          <a:prstGeom prst="ellipse">
            <a:avLst/>
          </a:prstGeom>
          <a:solidFill>
            <a:schemeClr val="accent1"/>
          </a:solidFill>
          <a:ln/>
        </p:spPr>
      </p:sp>
      <p:sp>
        <p:nvSpPr>
          <p:cNvPr id="4" name="Eyebrow"/>
          <p:cNvSpPr txBox="1"/>
          <p:nvPr/>
        </p:nvSpPr>
        <p:spPr>
          <a:xfrm>
            <a:off x="640080" y="146304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INVESTIGATIVE VERIFICATION LAB</a:t>
            </a:r>
            <a:endParaRPr lang="en-US" sz="1200" dirty="0"/>
          </a:p>
        </p:txBody>
      </p:sp>
      <p:sp>
        <p:nvSpPr>
          <p:cNvPr id="5" name="Text 0"/>
          <p:cNvSpPr/>
          <p:nvPr>
            <p:ph idx="100" type="title" hasCustomPrompt="1"/>
          </p:nvPr>
        </p:nvSpPr>
        <p:spPr>
          <a:xfrm>
            <a:off x="640080" y="2011680"/>
            <a:ext cx="8229600" cy="1645920"/>
          </a:xfrm>
          <a:prstGeom prst="rect">
            <a:avLst/>
          </a:prstGeom>
          <a:noFill/>
          <a:ln/>
        </p:spPr>
        <p:txBody>
          <a:bodyPr wrap="square" lIns="0" tIns="0" rIns="0" bIns="0" rtlCol="0" anchor="t"/>
          <a:lstStyle/>
          <a:p>
            <a:pPr algn="l" indent="0" marL="0">
              <a:buNone/>
            </a:pPr>
            <a:r>
              <a:rPr lang="en-US" sz="9600" dirty="0">
                <a:solidFill>
                  <a:schemeClr val="bg1"/>
                </a:solidFill>
              </a:rPr>
              <a:t>VeriFact</a:t>
            </a:r>
            <a:endParaRPr lang="en-US" sz="9600" dirty="0"/>
          </a:p>
        </p:txBody>
      </p:sp>
      <p:sp>
        <p:nvSpPr>
          <p:cNvPr id="6" name="Subtitle"/>
          <p:cNvSpPr txBox="1"/>
          <p:nvPr/>
        </p:nvSpPr>
        <p:spPr>
          <a:xfrm>
            <a:off x="640080" y="3749040"/>
            <a:ext cx="10058400" cy="640080"/>
          </a:xfrm>
          <a:prstGeom prst="rect">
            <a:avLst/>
          </a:prstGeom>
          <a:noFill/>
          <a:ln/>
        </p:spPr>
        <p:txBody>
          <a:bodyPr wrap="square" lIns="0" tIns="0" rIns="0" bIns="0" rtlCol="0" anchor="t"/>
          <a:lstStyle/>
          <a:p>
            <a:pPr indent="0" marL="0">
              <a:buNone/>
            </a:pPr>
            <a:r>
              <a:rPr lang="en-US" sz="3000" dirty="0">
                <a:solidFill>
                  <a:schemeClr val="bg1"/>
                </a:solidFill>
                <a:latin typeface="Cambria" pitchFamily="34" charset="0"/>
                <a:ea typeface="Cambria" pitchFamily="34" charset="-122"/>
                <a:cs typeface="Cambria" pitchFamily="34" charset="-120"/>
              </a:rPr>
              <a:t>Evidence-grounded misinformation detection</a:t>
            </a:r>
            <a:endParaRPr lang="en-US" sz="3000" dirty="0"/>
          </a:p>
        </p:txBody>
      </p:sp>
      <p:sp>
        <p:nvSpPr>
          <p:cNvPr id="7" name="Tagline"/>
          <p:cNvSpPr txBox="1"/>
          <p:nvPr/>
        </p:nvSpPr>
        <p:spPr>
          <a:xfrm>
            <a:off x="640080" y="4526280"/>
            <a:ext cx="8686800" cy="822960"/>
          </a:xfrm>
          <a:prstGeom prst="rect">
            <a:avLst/>
          </a:prstGeom>
          <a:noFill/>
          <a:ln/>
        </p:spPr>
        <p:txBody>
          <a:bodyPr wrap="square" lIns="0" tIns="0" rIns="0" bIns="0" rtlCol="0" anchor="t"/>
          <a:lstStyle/>
          <a:p>
            <a:pPr indent="0" marL="0">
              <a:buNone/>
            </a:pPr>
            <a:r>
              <a:rPr lang="en-US" sz="1800" dirty="0">
                <a:solidFill>
                  <a:schemeClr val="bg2"/>
                </a:solidFill>
              </a:rPr>
              <a:t>Retrieval-first verification of claims and links, where every verdict traces back to the sources that produced it.</a:t>
            </a:r>
            <a:endParaRPr lang="en-US" sz="1800" dirty="0"/>
          </a:p>
        </p:txBody>
      </p:sp>
      <p:sp>
        <p:nvSpPr>
          <p:cNvPr id="8" name="Presenter"/>
          <p:cNvSpPr txBox="1"/>
          <p:nvPr/>
        </p:nvSpPr>
        <p:spPr>
          <a:xfrm>
            <a:off x="640080" y="6172200"/>
            <a:ext cx="914400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[Presenter name] · [Course]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THE PROBLEM</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Fluent is not the same as true</a:t>
            </a:r>
            <a:endParaRPr lang="en-US" sz="3600" dirty="0"/>
          </a:p>
        </p:txBody>
      </p:sp>
      <p:sp>
        <p:nvSpPr>
          <p:cNvPr id="5" name="Card"/>
          <p:cNvSpPr/>
          <p:nvPr/>
        </p:nvSpPr>
        <p:spPr>
          <a:xfrm>
            <a:off x="640080" y="1920240"/>
            <a:ext cx="3454298" cy="3291840"/>
          </a:xfrm>
          <a:prstGeom prst="roundRect">
            <a:avLst>
              <a:gd name="adj" fmla="val 3333"/>
            </a:avLst>
          </a:prstGeom>
          <a:solidFill>
            <a:schemeClr val="tx2"/>
          </a:solidFill>
          <a:ln w="12700">
            <a:solidFill>
              <a:schemeClr val="accent5"/>
            </a:solidFill>
            <a:prstDash val="solid"/>
          </a:ln>
        </p:spPr>
      </p:sp>
      <p:sp>
        <p:nvSpPr>
          <p:cNvPr id="6" name="Problem card text"/>
          <p:cNvSpPr txBox="1"/>
          <p:nvPr/>
        </p:nvSpPr>
        <p:spPr>
          <a:xfrm>
            <a:off x="914400" y="2194560"/>
            <a:ext cx="2905658" cy="283464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01</a:t>
            </a:r>
            <a:endParaRPr lang="en-US" sz="1400" dirty="0"/>
          </a:p>
          <a:p>
            <a:pPr indent="0" marL="0">
              <a:spcBef>
                <a:spcPts val="1000"/>
              </a:spcBef>
              <a:buNone/>
            </a:pPr>
            <a:r>
              <a:rPr lang="en-US" sz="2400" b="1" dirty="0">
                <a:solidFill>
                  <a:schemeClr val="bg1"/>
                </a:solidFill>
                <a:latin typeface="Cambria" pitchFamily="34" charset="0"/>
                <a:ea typeface="Cambria" pitchFamily="34" charset="-122"/>
                <a:cs typeface="Cambria" pitchFamily="34" charset="-120"/>
              </a:rPr>
              <a:t>Chatbots answer from memory</a:t>
            </a:r>
            <a:endParaRPr lang="en-US" sz="1400" dirty="0"/>
          </a:p>
          <a:p>
            <a:pPr indent="0" marL="0">
              <a:spcBef>
                <a:spcPts val="1200"/>
              </a:spcBef>
              <a:buNone/>
            </a:pPr>
            <a:r>
              <a:rPr lang="en-US" sz="1800" dirty="0">
                <a:solidFill>
                  <a:schemeClr val="bg2"/>
                </a:solidFill>
              </a:rPr>
              <a:t>Ask a language model whether something is true and it replies with confidence, but gives no source you can check.</a:t>
            </a:r>
            <a:endParaRPr lang="en-US" sz="1400" dirty="0"/>
          </a:p>
        </p:txBody>
      </p:sp>
      <p:sp>
        <p:nvSpPr>
          <p:cNvPr id="7" name="Card"/>
          <p:cNvSpPr/>
          <p:nvPr/>
        </p:nvSpPr>
        <p:spPr>
          <a:xfrm>
            <a:off x="4368698" y="1920240"/>
            <a:ext cx="3454298" cy="3291840"/>
          </a:xfrm>
          <a:prstGeom prst="roundRect">
            <a:avLst>
              <a:gd name="adj" fmla="val 3333"/>
            </a:avLst>
          </a:prstGeom>
          <a:solidFill>
            <a:schemeClr val="tx2"/>
          </a:solidFill>
          <a:ln w="12700">
            <a:solidFill>
              <a:schemeClr val="accent5"/>
            </a:solidFill>
            <a:prstDash val="solid"/>
          </a:ln>
        </p:spPr>
      </p:sp>
      <p:sp>
        <p:nvSpPr>
          <p:cNvPr id="8" name="Problem card text"/>
          <p:cNvSpPr txBox="1"/>
          <p:nvPr/>
        </p:nvSpPr>
        <p:spPr>
          <a:xfrm>
            <a:off x="4643018" y="2194560"/>
            <a:ext cx="2905658" cy="283464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02</a:t>
            </a:r>
            <a:endParaRPr lang="en-US" sz="1400" dirty="0"/>
          </a:p>
          <a:p>
            <a:pPr indent="0" marL="0">
              <a:spcBef>
                <a:spcPts val="1000"/>
              </a:spcBef>
              <a:buNone/>
            </a:pPr>
            <a:r>
              <a:rPr lang="en-US" sz="2400" b="1" dirty="0">
                <a:solidFill>
                  <a:schemeClr val="bg1"/>
                </a:solidFill>
                <a:latin typeface="Cambria" pitchFamily="34" charset="0"/>
                <a:ea typeface="Cambria" pitchFamily="34" charset="-122"/>
                <a:cs typeface="Cambria" pitchFamily="34" charset="-120"/>
              </a:rPr>
              <a:t>Human fact-checks do not scale</a:t>
            </a:r>
            <a:endParaRPr lang="en-US" sz="1400" dirty="0"/>
          </a:p>
          <a:p>
            <a:pPr indent="0" marL="0">
              <a:spcBef>
                <a:spcPts val="1200"/>
              </a:spcBef>
              <a:buNone/>
            </a:pPr>
            <a:r>
              <a:rPr lang="en-US" sz="1800" dirty="0">
                <a:solidFill>
                  <a:schemeClr val="bg2"/>
                </a:solidFill>
              </a:rPr>
              <a:t>Professional reviews are careful but slow, and a claim can travel widely before one is published.</a:t>
            </a:r>
            <a:endParaRPr lang="en-US" sz="1400" dirty="0"/>
          </a:p>
        </p:txBody>
      </p:sp>
      <p:sp>
        <p:nvSpPr>
          <p:cNvPr id="9" name="Card"/>
          <p:cNvSpPr/>
          <p:nvPr/>
        </p:nvSpPr>
        <p:spPr>
          <a:xfrm>
            <a:off x="8097317" y="1920240"/>
            <a:ext cx="3454298" cy="3291840"/>
          </a:xfrm>
          <a:prstGeom prst="roundRect">
            <a:avLst>
              <a:gd name="adj" fmla="val 3333"/>
            </a:avLst>
          </a:prstGeom>
          <a:solidFill>
            <a:schemeClr val="tx2"/>
          </a:solidFill>
          <a:ln w="12700">
            <a:solidFill>
              <a:schemeClr val="accent5"/>
            </a:solidFill>
            <a:prstDash val="solid"/>
          </a:ln>
        </p:spPr>
      </p:sp>
      <p:sp>
        <p:nvSpPr>
          <p:cNvPr id="10" name="Problem card text"/>
          <p:cNvSpPr txBox="1"/>
          <p:nvPr/>
        </p:nvSpPr>
        <p:spPr>
          <a:xfrm>
            <a:off x="8371637" y="2194560"/>
            <a:ext cx="2905658" cy="283464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03</a:t>
            </a:r>
            <a:endParaRPr lang="en-US" sz="1400" dirty="0"/>
          </a:p>
          <a:p>
            <a:pPr indent="0" marL="0">
              <a:spcBef>
                <a:spcPts val="1000"/>
              </a:spcBef>
              <a:buNone/>
            </a:pPr>
            <a:r>
              <a:rPr lang="en-US" sz="2400" b="1" dirty="0">
                <a:solidFill>
                  <a:schemeClr val="bg1"/>
                </a:solidFill>
                <a:latin typeface="Cambria" pitchFamily="34" charset="0"/>
                <a:ea typeface="Cambria" pitchFamily="34" charset="-122"/>
                <a:cs typeface="Cambria" pitchFamily="34" charset="-120"/>
              </a:rPr>
              <a:t>A bare score hides the work</a:t>
            </a:r>
            <a:endParaRPr lang="en-US" sz="1400" dirty="0"/>
          </a:p>
          <a:p>
            <a:pPr indent="0" marL="0">
              <a:spcBef>
                <a:spcPts val="1200"/>
              </a:spcBef>
              <a:buNone/>
            </a:pPr>
            <a:r>
              <a:rPr lang="en-US" sz="1800" dirty="0">
                <a:solidFill>
                  <a:schemeClr val="bg2"/>
                </a:solidFill>
              </a:rPr>
              <a:t>A label like "87% fake" does not show what was read, what was ignored, or how much each source counted.</a:t>
            </a:r>
            <a:endParaRPr lang="en-US" sz="14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Eyebrow"/>
          <p:cNvSpPr txBox="1"/>
          <p:nvPr/>
        </p:nvSpPr>
        <p:spPr>
          <a:xfrm>
            <a:off x="640080" y="868680"/>
            <a:ext cx="7315200" cy="274320"/>
          </a:xfrm>
          <a:prstGeom prst="rect">
            <a:avLst/>
          </a:prstGeom>
          <a:noFill/>
          <a:ln/>
        </p:spPr>
        <p:txBody>
          <a:bodyPr wrap="square" lIns="0" tIns="0" rIns="0" bIns="0" rtlCol="0" anchor="ctr"/>
          <a:lstStyle/>
          <a:p>
            <a:pPr indent="0" marL="0">
              <a:buNone/>
            </a:pPr>
            <a:r>
              <a:rPr lang="en-US" sz="1200" spc="300" kern="0" dirty="0">
                <a:solidFill>
                  <a:schemeClr val="tx1"/>
                </a:solidFill>
                <a:latin typeface="Courier New" pitchFamily="34" charset="0"/>
                <a:ea typeface="Courier New" pitchFamily="34" charset="-122"/>
                <a:cs typeface="Courier New" pitchFamily="34" charset="-120"/>
              </a:rPr>
              <a:t>THE CORE IDEA</a:t>
            </a:r>
            <a:endParaRPr lang="en-US" sz="1200" dirty="0"/>
          </a:p>
        </p:txBody>
      </p:sp>
      <p:sp>
        <p:nvSpPr>
          <p:cNvPr id="4" name="Text 0"/>
          <p:cNvSpPr/>
          <p:nvPr>
            <p:ph idx="100" type="title" hasCustomPrompt="1"/>
          </p:nvPr>
        </p:nvSpPr>
        <p:spPr>
          <a:xfrm>
            <a:off x="640080" y="1554480"/>
            <a:ext cx="10607040" cy="2377440"/>
          </a:xfrm>
          <a:prstGeom prst="rect">
            <a:avLst/>
          </a:prstGeom>
          <a:noFill/>
          <a:ln/>
        </p:spPr>
        <p:txBody>
          <a:bodyPr wrap="square" lIns="0" tIns="0" rIns="0" bIns="0" rtlCol="0" anchor="t"/>
          <a:lstStyle/>
          <a:p>
            <a:pPr algn="l" indent="0" marL="0">
              <a:buNone/>
            </a:pPr>
            <a:r>
              <a:rPr lang="en-US" sz="6000" dirty="0">
                <a:solidFill>
                  <a:schemeClr val="tx1"/>
                </a:solidFill>
              </a:rPr>
              <a:t>Models read evidence. Rules decide.</a:t>
            </a:r>
            <a:endParaRPr lang="en-US" sz="6000" dirty="0"/>
          </a:p>
        </p:txBody>
      </p:sp>
      <p:sp>
        <p:nvSpPr>
          <p:cNvPr id="5" name="Idea body"/>
          <p:cNvSpPr txBox="1"/>
          <p:nvPr/>
        </p:nvSpPr>
        <p:spPr>
          <a:xfrm>
            <a:off x="640080" y="4206240"/>
            <a:ext cx="9509760" cy="1280160"/>
          </a:xfrm>
          <a:prstGeom prst="rect">
            <a:avLst/>
          </a:prstGeom>
          <a:noFill/>
          <a:ln/>
        </p:spPr>
        <p:txBody>
          <a:bodyPr wrap="square" lIns="0" tIns="0" rIns="0" bIns="0" rtlCol="0" anchor="t"/>
          <a:lstStyle/>
          <a:p>
            <a:pPr indent="0" marL="0">
              <a:buNone/>
            </a:pPr>
            <a:r>
              <a:rPr lang="en-US" sz="2200" dirty="0">
                <a:solidFill>
                  <a:schemeClr val="tx1"/>
                </a:solidFill>
              </a:rPr>
              <a:t>The language model never answers from memory. It only reads passages we retrieved, and a deterministic, testable rule turns that evidence into a verdict.</a:t>
            </a:r>
            <a:endParaRPr lang="en-US" sz="22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1"/>
                </a:solidFill>
                <a:latin typeface="Courier New"/>
                <a:ea typeface="Courier New"/>
                <a:cs typeface="Courier New"/>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SYSTEM ARCHITECTURE</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Four layers, one audit trail</a:t>
            </a:r>
            <a:endParaRPr lang="en-US" sz="3600" dirty="0"/>
          </a:p>
        </p:txBody>
      </p:sp>
      <p:sp>
        <p:nvSpPr>
          <p:cNvPr id="5" name="Card"/>
          <p:cNvSpPr/>
          <p:nvPr/>
        </p:nvSpPr>
        <p:spPr>
          <a:xfrm>
            <a:off x="640080" y="1920240"/>
            <a:ext cx="2331720" cy="1051560"/>
          </a:xfrm>
          <a:prstGeom prst="roundRect">
            <a:avLst>
              <a:gd name="adj" fmla="val 10435"/>
            </a:avLst>
          </a:prstGeom>
          <a:solidFill>
            <a:schemeClr val="tx2"/>
          </a:solidFill>
          <a:ln w="25400">
            <a:solidFill>
              <a:schemeClr val="accent1"/>
            </a:solidFill>
            <a:prstDash val="solid"/>
          </a:ln>
        </p:spPr>
      </p:sp>
      <p:sp>
        <p:nvSpPr>
          <p:cNvPr id="6" name="Flow box text"/>
          <p:cNvSpPr txBox="1"/>
          <p:nvPr/>
        </p:nvSpPr>
        <p:spPr>
          <a:xfrm>
            <a:off x="822960" y="2057400"/>
            <a:ext cx="1965960" cy="777240"/>
          </a:xfrm>
          <a:prstGeom prst="rect">
            <a:avLst/>
          </a:prstGeom>
          <a:noFill/>
          <a:ln/>
        </p:spPr>
        <p:txBody>
          <a:bodyPr wrap="square" lIns="0" tIns="0" rIns="0" bIns="0" rtlCol="0" anchor="ctr"/>
          <a:lstStyle/>
          <a:p>
            <a:pPr indent="0" marL="0">
              <a:buNone/>
            </a:pPr>
            <a:r>
              <a:rPr lang="en-US" sz="1800" b="1" dirty="0">
                <a:solidFill>
                  <a:schemeClr val="bg1"/>
                </a:solidFill>
              </a:rPr>
              <a:t>Next.js UI</a:t>
            </a:r>
            <a:endParaRPr lang="en-US" sz="1800" dirty="0"/>
          </a:p>
          <a:p>
            <a:pPr indent="0" marL="0">
              <a:spcBef>
                <a:spcPts val="400"/>
              </a:spcBef>
              <a:buNone/>
            </a:pPr>
            <a:r>
              <a:rPr lang="en-US" sz="1200" dirty="0">
                <a:solidFill>
                  <a:schemeClr val="bg2"/>
                </a:solidFill>
                <a:latin typeface="Courier New" pitchFamily="34" charset="0"/>
                <a:ea typeface="Courier New" pitchFamily="34" charset="-122"/>
                <a:cs typeface="Courier New" pitchFamily="34" charset="-120"/>
              </a:rPr>
              <a:t>live view · board</a:t>
            </a:r>
            <a:endParaRPr lang="en-US" sz="1800" dirty="0"/>
          </a:p>
        </p:txBody>
      </p:sp>
      <p:sp>
        <p:nvSpPr>
          <p:cNvPr id="7" name="Flow arrow"/>
          <p:cNvSpPr/>
          <p:nvPr/>
        </p:nvSpPr>
        <p:spPr>
          <a:xfrm>
            <a:off x="3053029" y="2331720"/>
            <a:ext cx="365760" cy="228600"/>
          </a:xfrm>
          <a:prstGeom prst="rightArrow">
            <a:avLst/>
          </a:prstGeom>
          <a:solidFill>
            <a:schemeClr val="accent1"/>
          </a:solidFill>
          <a:ln/>
        </p:spPr>
      </p:sp>
      <p:sp>
        <p:nvSpPr>
          <p:cNvPr id="8" name="Card"/>
          <p:cNvSpPr/>
          <p:nvPr/>
        </p:nvSpPr>
        <p:spPr>
          <a:xfrm>
            <a:off x="3500018" y="1920240"/>
            <a:ext cx="2331720" cy="1051560"/>
          </a:xfrm>
          <a:prstGeom prst="roundRect">
            <a:avLst>
              <a:gd name="adj" fmla="val 10435"/>
            </a:avLst>
          </a:prstGeom>
          <a:solidFill>
            <a:schemeClr val="tx2"/>
          </a:solidFill>
          <a:ln w="25400">
            <a:solidFill>
              <a:schemeClr val="accent1"/>
            </a:solidFill>
            <a:prstDash val="solid"/>
          </a:ln>
        </p:spPr>
      </p:sp>
      <p:sp>
        <p:nvSpPr>
          <p:cNvPr id="9" name="Flow box text"/>
          <p:cNvSpPr txBox="1"/>
          <p:nvPr/>
        </p:nvSpPr>
        <p:spPr>
          <a:xfrm>
            <a:off x="3682898" y="2057400"/>
            <a:ext cx="1965960" cy="777240"/>
          </a:xfrm>
          <a:prstGeom prst="rect">
            <a:avLst/>
          </a:prstGeom>
          <a:noFill/>
          <a:ln/>
        </p:spPr>
        <p:txBody>
          <a:bodyPr wrap="square" lIns="0" tIns="0" rIns="0" bIns="0" rtlCol="0" anchor="ctr"/>
          <a:lstStyle/>
          <a:p>
            <a:pPr indent="0" marL="0">
              <a:buNone/>
            </a:pPr>
            <a:r>
              <a:rPr lang="en-US" sz="1800" b="1" dirty="0">
                <a:solidFill>
                  <a:schemeClr val="bg1"/>
                </a:solidFill>
              </a:rPr>
              <a:t>FastAPI</a:t>
            </a:r>
            <a:endParaRPr lang="en-US" sz="1800" dirty="0"/>
          </a:p>
          <a:p>
            <a:pPr indent="0" marL="0">
              <a:spcBef>
                <a:spcPts val="400"/>
              </a:spcBef>
              <a:buNone/>
            </a:pPr>
            <a:r>
              <a:rPr lang="en-US" sz="1200" dirty="0">
                <a:solidFill>
                  <a:schemeClr val="bg2"/>
                </a:solidFill>
                <a:latin typeface="Courier New" pitchFamily="34" charset="0"/>
                <a:ea typeface="Courier New" pitchFamily="34" charset="-122"/>
                <a:cs typeface="Courier New" pitchFamily="34" charset="-120"/>
              </a:rPr>
              <a:t>REST + SSE</a:t>
            </a:r>
            <a:endParaRPr lang="en-US" sz="1800" dirty="0"/>
          </a:p>
        </p:txBody>
      </p:sp>
      <p:sp>
        <p:nvSpPr>
          <p:cNvPr id="10" name="Flow arrow"/>
          <p:cNvSpPr/>
          <p:nvPr/>
        </p:nvSpPr>
        <p:spPr>
          <a:xfrm>
            <a:off x="5912968" y="2331720"/>
            <a:ext cx="365760" cy="228600"/>
          </a:xfrm>
          <a:prstGeom prst="rightArrow">
            <a:avLst/>
          </a:prstGeom>
          <a:solidFill>
            <a:schemeClr val="accent1"/>
          </a:solidFill>
          <a:ln/>
        </p:spPr>
      </p:sp>
      <p:sp>
        <p:nvSpPr>
          <p:cNvPr id="11" name="Card"/>
          <p:cNvSpPr/>
          <p:nvPr/>
        </p:nvSpPr>
        <p:spPr>
          <a:xfrm>
            <a:off x="6359957" y="1920240"/>
            <a:ext cx="2331720" cy="1051560"/>
          </a:xfrm>
          <a:prstGeom prst="roundRect">
            <a:avLst>
              <a:gd name="adj" fmla="val 10435"/>
            </a:avLst>
          </a:prstGeom>
          <a:solidFill>
            <a:schemeClr val="tx2"/>
          </a:solidFill>
          <a:ln w="12700">
            <a:solidFill>
              <a:schemeClr val="accent5"/>
            </a:solidFill>
            <a:prstDash val="solid"/>
          </a:ln>
        </p:spPr>
      </p:sp>
      <p:sp>
        <p:nvSpPr>
          <p:cNvPr id="12" name="Flow box text"/>
          <p:cNvSpPr txBox="1"/>
          <p:nvPr/>
        </p:nvSpPr>
        <p:spPr>
          <a:xfrm>
            <a:off x="6542837" y="2057400"/>
            <a:ext cx="1965960" cy="777240"/>
          </a:xfrm>
          <a:prstGeom prst="rect">
            <a:avLst/>
          </a:prstGeom>
          <a:noFill/>
          <a:ln/>
        </p:spPr>
        <p:txBody>
          <a:bodyPr wrap="square" lIns="0" tIns="0" rIns="0" bIns="0" rtlCol="0" anchor="ctr"/>
          <a:lstStyle/>
          <a:p>
            <a:pPr indent="0" marL="0">
              <a:buNone/>
            </a:pPr>
            <a:r>
              <a:rPr lang="en-US" sz="1800" b="1" dirty="0">
                <a:solidFill>
                  <a:schemeClr val="bg1"/>
                </a:solidFill>
              </a:rPr>
              <a:t>Redis queue</a:t>
            </a:r>
            <a:endParaRPr lang="en-US" sz="1800" dirty="0"/>
          </a:p>
          <a:p>
            <a:pPr indent="0" marL="0">
              <a:spcBef>
                <a:spcPts val="400"/>
              </a:spcBef>
              <a:buNone/>
            </a:pPr>
            <a:r>
              <a:rPr lang="en-US" sz="1200" dirty="0">
                <a:solidFill>
                  <a:schemeClr val="bg2"/>
                </a:solidFill>
                <a:latin typeface="Courier New" pitchFamily="34" charset="0"/>
                <a:ea typeface="Courier New" pitchFamily="34" charset="-122"/>
                <a:cs typeface="Courier New" pitchFamily="34" charset="-120"/>
              </a:rPr>
              <a:t>Arq jobs</a:t>
            </a:r>
            <a:endParaRPr lang="en-US" sz="1800" dirty="0"/>
          </a:p>
        </p:txBody>
      </p:sp>
      <p:sp>
        <p:nvSpPr>
          <p:cNvPr id="13" name="Flow arrow"/>
          <p:cNvSpPr/>
          <p:nvPr/>
        </p:nvSpPr>
        <p:spPr>
          <a:xfrm>
            <a:off x="8772906" y="2331720"/>
            <a:ext cx="365760" cy="228600"/>
          </a:xfrm>
          <a:prstGeom prst="rightArrow">
            <a:avLst/>
          </a:prstGeom>
          <a:solidFill>
            <a:schemeClr val="accent1"/>
          </a:solidFill>
          <a:ln/>
        </p:spPr>
      </p:sp>
      <p:sp>
        <p:nvSpPr>
          <p:cNvPr id="14" name="Card"/>
          <p:cNvSpPr/>
          <p:nvPr/>
        </p:nvSpPr>
        <p:spPr>
          <a:xfrm>
            <a:off x="9219895" y="1920240"/>
            <a:ext cx="2331720" cy="1051560"/>
          </a:xfrm>
          <a:prstGeom prst="roundRect">
            <a:avLst>
              <a:gd name="adj" fmla="val 10435"/>
            </a:avLst>
          </a:prstGeom>
          <a:solidFill>
            <a:schemeClr val="tx2"/>
          </a:solidFill>
          <a:ln w="25400">
            <a:solidFill>
              <a:schemeClr val="accent1"/>
            </a:solidFill>
            <a:prstDash val="solid"/>
          </a:ln>
        </p:spPr>
      </p:sp>
      <p:sp>
        <p:nvSpPr>
          <p:cNvPr id="15" name="Flow box text"/>
          <p:cNvSpPr txBox="1"/>
          <p:nvPr/>
        </p:nvSpPr>
        <p:spPr>
          <a:xfrm>
            <a:off x="9402775" y="2057400"/>
            <a:ext cx="1965960" cy="777240"/>
          </a:xfrm>
          <a:prstGeom prst="rect">
            <a:avLst/>
          </a:prstGeom>
          <a:noFill/>
          <a:ln/>
        </p:spPr>
        <p:txBody>
          <a:bodyPr wrap="square" lIns="0" tIns="0" rIns="0" bIns="0" rtlCol="0" anchor="ctr"/>
          <a:lstStyle/>
          <a:p>
            <a:pPr indent="0" marL="0">
              <a:buNone/>
            </a:pPr>
            <a:r>
              <a:rPr lang="en-US" sz="1800" b="1" dirty="0">
                <a:solidFill>
                  <a:schemeClr val="bg1"/>
                </a:solidFill>
              </a:rPr>
              <a:t>Worker</a:t>
            </a:r>
            <a:endParaRPr lang="en-US" sz="1800" dirty="0"/>
          </a:p>
          <a:p>
            <a:pPr indent="0" marL="0">
              <a:spcBef>
                <a:spcPts val="400"/>
              </a:spcBef>
              <a:buNone/>
            </a:pPr>
            <a:r>
              <a:rPr lang="en-US" sz="1200" dirty="0">
                <a:solidFill>
                  <a:schemeClr val="bg2"/>
                </a:solidFill>
                <a:latin typeface="Courier New" pitchFamily="34" charset="0"/>
                <a:ea typeface="Courier New" pitchFamily="34" charset="-122"/>
                <a:cs typeface="Courier New" pitchFamily="34" charset="-120"/>
              </a:rPr>
              <a:t>pipeline</a:t>
            </a:r>
            <a:endParaRPr lang="en-US" sz="1800" dirty="0"/>
          </a:p>
        </p:txBody>
      </p:sp>
      <p:sp>
        <p:nvSpPr>
          <p:cNvPr id="16" name="Section label"/>
          <p:cNvSpPr txBox="1"/>
          <p:nvPr/>
        </p:nvSpPr>
        <p:spPr>
          <a:xfrm>
            <a:off x="640080" y="3246120"/>
            <a:ext cx="5486400" cy="274320"/>
          </a:xfrm>
          <a:prstGeom prst="rect">
            <a:avLst/>
          </a:prstGeom>
          <a:noFill/>
          <a:ln/>
        </p:spPr>
        <p:txBody>
          <a:bodyPr wrap="square" lIns="0" tIns="0" rIns="0" bIns="0" rtlCol="0" anchor="t"/>
          <a:lstStyle/>
          <a:p>
            <a:pPr indent="0" marL="0">
              <a:buNone/>
            </a:pPr>
            <a:r>
              <a:rPr lang="en-US" sz="1200" spc="300" kern="0" dirty="0">
                <a:solidFill>
                  <a:schemeClr val="accent6"/>
                </a:solidFill>
                <a:latin typeface="Courier New" pitchFamily="34" charset="0"/>
                <a:ea typeface="Courier New" pitchFamily="34" charset="-122"/>
                <a:cs typeface="Courier New" pitchFamily="34" charset="-120"/>
              </a:rPr>
              <a:t>THE WORKER CALLS</a:t>
            </a:r>
            <a:endParaRPr lang="en-US" sz="1200" dirty="0"/>
          </a:p>
        </p:txBody>
      </p:sp>
      <p:sp>
        <p:nvSpPr>
          <p:cNvPr id="17" name="Card"/>
          <p:cNvSpPr/>
          <p:nvPr/>
        </p:nvSpPr>
        <p:spPr>
          <a:xfrm>
            <a:off x="640080" y="3611880"/>
            <a:ext cx="3454298" cy="1463040"/>
          </a:xfrm>
          <a:prstGeom prst="roundRect">
            <a:avLst>
              <a:gd name="adj" fmla="val 7500"/>
            </a:avLst>
          </a:prstGeom>
          <a:solidFill>
            <a:schemeClr val="tx2"/>
          </a:solidFill>
          <a:ln w="12700">
            <a:solidFill>
              <a:schemeClr val="accent5"/>
            </a:solidFill>
            <a:prstDash val="solid"/>
          </a:ln>
        </p:spPr>
      </p:sp>
      <p:sp>
        <p:nvSpPr>
          <p:cNvPr id="18" name="Card text"/>
          <p:cNvSpPr txBox="1"/>
          <p:nvPr/>
        </p:nvSpPr>
        <p:spPr>
          <a:xfrm>
            <a:off x="868680" y="3794760"/>
            <a:ext cx="2997098" cy="1097280"/>
          </a:xfrm>
          <a:prstGeom prst="rect">
            <a:avLst/>
          </a:prstGeom>
          <a:noFill/>
          <a:ln/>
        </p:spPr>
        <p:txBody>
          <a:bodyPr wrap="square" lIns="0" tIns="0" rIns="0" bIns="0" rtlCol="0" anchor="t"/>
          <a:lstStyle/>
          <a:p>
            <a:pPr indent="0" marL="0">
              <a:buNone/>
            </a:pPr>
            <a:r>
              <a:rPr lang="en-US" sz="1800" b="1" dirty="0">
                <a:solidFill>
                  <a:schemeClr val="bg1"/>
                </a:solidFill>
              </a:rPr>
              <a:t>LLM providers</a:t>
            </a:r>
            <a:endParaRPr lang="en-US" sz="1800" dirty="0"/>
          </a:p>
          <a:p>
            <a:pPr indent="0" marL="0">
              <a:spcBef>
                <a:spcPts val="500"/>
              </a:spcBef>
              <a:buNone/>
            </a:pPr>
            <a:r>
              <a:rPr lang="en-US" sz="1500" dirty="0">
                <a:solidFill>
                  <a:schemeClr val="bg2"/>
                </a:solidFill>
              </a:rPr>
              <a:t>Groq (free default), Anthropic, OpenAI. Structured JSON only.</a:t>
            </a:r>
            <a:endParaRPr lang="en-US" sz="1800" dirty="0"/>
          </a:p>
        </p:txBody>
      </p:sp>
      <p:sp>
        <p:nvSpPr>
          <p:cNvPr id="19" name="Card"/>
          <p:cNvSpPr/>
          <p:nvPr/>
        </p:nvSpPr>
        <p:spPr>
          <a:xfrm>
            <a:off x="4368698" y="3611880"/>
            <a:ext cx="3454298" cy="1463040"/>
          </a:xfrm>
          <a:prstGeom prst="roundRect">
            <a:avLst>
              <a:gd name="adj" fmla="val 7500"/>
            </a:avLst>
          </a:prstGeom>
          <a:solidFill>
            <a:schemeClr val="tx2"/>
          </a:solidFill>
          <a:ln w="12700">
            <a:solidFill>
              <a:schemeClr val="accent5"/>
            </a:solidFill>
            <a:prstDash val="solid"/>
          </a:ln>
        </p:spPr>
      </p:sp>
      <p:sp>
        <p:nvSpPr>
          <p:cNvPr id="20" name="Card text"/>
          <p:cNvSpPr txBox="1"/>
          <p:nvPr/>
        </p:nvSpPr>
        <p:spPr>
          <a:xfrm>
            <a:off x="4597298" y="3794760"/>
            <a:ext cx="2997098" cy="1097280"/>
          </a:xfrm>
          <a:prstGeom prst="rect">
            <a:avLst/>
          </a:prstGeom>
          <a:noFill/>
          <a:ln/>
        </p:spPr>
        <p:txBody>
          <a:bodyPr wrap="square" lIns="0" tIns="0" rIns="0" bIns="0" rtlCol="0" anchor="t"/>
          <a:lstStyle/>
          <a:p>
            <a:pPr indent="0" marL="0">
              <a:buNone/>
            </a:pPr>
            <a:r>
              <a:rPr lang="en-US" sz="1800" b="1" dirty="0">
                <a:solidFill>
                  <a:schemeClr val="bg1"/>
                </a:solidFill>
              </a:rPr>
              <a:t>Evidence sources</a:t>
            </a:r>
            <a:endParaRPr lang="en-US" sz="1800" dirty="0"/>
          </a:p>
          <a:p>
            <a:pPr indent="0" marL="0">
              <a:spcBef>
                <a:spcPts val="500"/>
              </a:spcBef>
              <a:buNone/>
            </a:pPr>
            <a:r>
              <a:rPr lang="en-US" sz="1500" dirty="0">
                <a:solidFill>
                  <a:schemeClr val="bg2"/>
                </a:solidFill>
              </a:rPr>
              <a:t>DuckDuckGo/Bing, GDELT, Wikipedia, PubMed, Crossref, publisher pages.</a:t>
            </a:r>
            <a:endParaRPr lang="en-US" sz="1800" dirty="0"/>
          </a:p>
        </p:txBody>
      </p:sp>
      <p:sp>
        <p:nvSpPr>
          <p:cNvPr id="21" name="Card"/>
          <p:cNvSpPr/>
          <p:nvPr/>
        </p:nvSpPr>
        <p:spPr>
          <a:xfrm>
            <a:off x="8097317" y="3611880"/>
            <a:ext cx="3454298" cy="1463040"/>
          </a:xfrm>
          <a:prstGeom prst="roundRect">
            <a:avLst>
              <a:gd name="adj" fmla="val 7500"/>
            </a:avLst>
          </a:prstGeom>
          <a:solidFill>
            <a:schemeClr val="tx2"/>
          </a:solidFill>
          <a:ln w="12700">
            <a:solidFill>
              <a:schemeClr val="accent5"/>
            </a:solidFill>
            <a:prstDash val="solid"/>
          </a:ln>
        </p:spPr>
      </p:sp>
      <p:sp>
        <p:nvSpPr>
          <p:cNvPr id="22" name="Card text"/>
          <p:cNvSpPr txBox="1"/>
          <p:nvPr/>
        </p:nvSpPr>
        <p:spPr>
          <a:xfrm>
            <a:off x="8325917" y="3794760"/>
            <a:ext cx="2997098" cy="1097280"/>
          </a:xfrm>
          <a:prstGeom prst="rect">
            <a:avLst/>
          </a:prstGeom>
          <a:noFill/>
          <a:ln/>
        </p:spPr>
        <p:txBody>
          <a:bodyPr wrap="square" lIns="0" tIns="0" rIns="0" bIns="0" rtlCol="0" anchor="t"/>
          <a:lstStyle/>
          <a:p>
            <a:pPr indent="0" marL="0">
              <a:buNone/>
            </a:pPr>
            <a:r>
              <a:rPr lang="en-US" sz="1800" b="1" dirty="0">
                <a:solidFill>
                  <a:schemeClr val="bg1"/>
                </a:solidFill>
              </a:rPr>
              <a:t>ML service</a:t>
            </a:r>
            <a:endParaRPr lang="en-US" sz="1800" dirty="0"/>
          </a:p>
          <a:p>
            <a:pPr indent="0" marL="0">
              <a:spcBef>
                <a:spcPts val="500"/>
              </a:spcBef>
              <a:buNone/>
            </a:pPr>
            <a:r>
              <a:rPr lang="en-US" sz="1500" dirty="0">
                <a:solidFill>
                  <a:schemeClr val="bg2"/>
                </a:solidFill>
              </a:rPr>
              <a:t>Cross-encoder rerank, NLI, image forensics. Optional.</a:t>
            </a:r>
            <a:endParaRPr lang="en-US" sz="1800" dirty="0"/>
          </a:p>
        </p:txBody>
      </p:sp>
      <p:sp>
        <p:nvSpPr>
          <p:cNvPr id="23" name="Architecture note"/>
          <p:cNvSpPr txBox="1"/>
          <p:nvPr/>
        </p:nvSpPr>
        <p:spPr>
          <a:xfrm>
            <a:off x="640080" y="5394960"/>
            <a:ext cx="10911535" cy="640080"/>
          </a:xfrm>
          <a:prstGeom prst="rect">
            <a:avLst/>
          </a:prstGeom>
          <a:noFill/>
          <a:ln/>
        </p:spPr>
        <p:txBody>
          <a:bodyPr wrap="square" lIns="0" tIns="0" rIns="0" bIns="0" rtlCol="0" anchor="t"/>
          <a:lstStyle/>
          <a:p>
            <a:pPr indent="0" marL="0">
              <a:buNone/>
            </a:pPr>
            <a:r>
              <a:rPr lang="en-US" sz="1600" dirty="0">
                <a:solidFill>
                  <a:schemeClr val="bg1"/>
                </a:solidFill>
              </a:rPr>
              <a:t>Every progress event is stored in the database and replayed over SSE, so a page refresh or worker restart loses nothing.</a:t>
            </a:r>
            <a:endParaRPr lang="en-US" sz="16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THE PIPELINE</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From input to verdict in nine steps</a:t>
            </a:r>
            <a:endParaRPr lang="en-US" sz="3600" dirty="0"/>
          </a:p>
        </p:txBody>
      </p:sp>
      <p:sp>
        <p:nvSpPr>
          <p:cNvPr id="5" name="Card"/>
          <p:cNvSpPr/>
          <p:nvPr/>
        </p:nvSpPr>
        <p:spPr>
          <a:xfrm>
            <a:off x="640080" y="1828800"/>
            <a:ext cx="3484778" cy="1280160"/>
          </a:xfrm>
          <a:prstGeom prst="roundRect">
            <a:avLst>
              <a:gd name="adj" fmla="val 8571"/>
            </a:avLst>
          </a:prstGeom>
          <a:solidFill>
            <a:schemeClr val="tx2"/>
          </a:solidFill>
          <a:ln w="12700">
            <a:solidFill>
              <a:schemeClr val="accent5"/>
            </a:solidFill>
            <a:prstDash val="solid"/>
          </a:ln>
        </p:spPr>
      </p:sp>
      <p:sp>
        <p:nvSpPr>
          <p:cNvPr id="6" name="Step text"/>
          <p:cNvSpPr txBox="1"/>
          <p:nvPr/>
        </p:nvSpPr>
        <p:spPr>
          <a:xfrm>
            <a:off x="868680" y="201168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01  </a:t>
            </a:r>
            <a:pPr indent="0" marL="0">
              <a:buNone/>
            </a:pPr>
            <a:r>
              <a:rPr lang="en-US" sz="1900" b="1" dirty="0">
                <a:solidFill>
                  <a:schemeClr val="bg1"/>
                </a:solidFill>
              </a:rPr>
              <a:t>Ingest</a:t>
            </a:r>
            <a:endParaRPr lang="en-US" sz="1300" dirty="0"/>
          </a:p>
          <a:p>
            <a:pPr indent="0" marL="0">
              <a:spcBef>
                <a:spcPts val="600"/>
              </a:spcBef>
              <a:buNone/>
            </a:pPr>
            <a:r>
              <a:rPr lang="en-US" sz="1400" dirty="0">
                <a:solidFill>
                  <a:schemeClr val="bg2"/>
                </a:solidFill>
              </a:rPr>
              <a:t>SSRF-safe fetch of text or a URL</a:t>
            </a:r>
            <a:endParaRPr lang="en-US" sz="1300" dirty="0"/>
          </a:p>
        </p:txBody>
      </p:sp>
      <p:sp>
        <p:nvSpPr>
          <p:cNvPr id="7" name="Card"/>
          <p:cNvSpPr/>
          <p:nvPr/>
        </p:nvSpPr>
        <p:spPr>
          <a:xfrm>
            <a:off x="4353458" y="1828800"/>
            <a:ext cx="3484778" cy="1280160"/>
          </a:xfrm>
          <a:prstGeom prst="roundRect">
            <a:avLst>
              <a:gd name="adj" fmla="val 8571"/>
            </a:avLst>
          </a:prstGeom>
          <a:solidFill>
            <a:schemeClr val="tx2"/>
          </a:solidFill>
          <a:ln w="12700">
            <a:solidFill>
              <a:schemeClr val="accent5"/>
            </a:solidFill>
            <a:prstDash val="solid"/>
          </a:ln>
        </p:spPr>
      </p:sp>
      <p:sp>
        <p:nvSpPr>
          <p:cNvPr id="8" name="Step text"/>
          <p:cNvSpPr txBox="1"/>
          <p:nvPr/>
        </p:nvSpPr>
        <p:spPr>
          <a:xfrm>
            <a:off x="4582058" y="201168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02  </a:t>
            </a:r>
            <a:pPr indent="0" marL="0">
              <a:buNone/>
            </a:pPr>
            <a:r>
              <a:rPr lang="en-US" sz="1900" b="1" dirty="0">
                <a:solidFill>
                  <a:schemeClr val="bg1"/>
                </a:solidFill>
              </a:rPr>
              <a:t>Extract claims</a:t>
            </a:r>
            <a:endParaRPr lang="en-US" sz="1300" dirty="0"/>
          </a:p>
          <a:p>
            <a:pPr indent="0" marL="0">
              <a:spcBef>
                <a:spcPts val="600"/>
              </a:spcBef>
              <a:buNone/>
            </a:pPr>
            <a:r>
              <a:rPr lang="en-US" sz="1400" dirty="0">
                <a:solidFill>
                  <a:schemeClr val="bg2"/>
                </a:solidFill>
              </a:rPr>
              <a:t>Atomic, checkworthy, tied to a source span</a:t>
            </a:r>
            <a:endParaRPr lang="en-US" sz="1300" dirty="0"/>
          </a:p>
        </p:txBody>
      </p:sp>
      <p:sp>
        <p:nvSpPr>
          <p:cNvPr id="9" name="Card"/>
          <p:cNvSpPr/>
          <p:nvPr/>
        </p:nvSpPr>
        <p:spPr>
          <a:xfrm>
            <a:off x="8066837" y="1828800"/>
            <a:ext cx="3484778" cy="1280160"/>
          </a:xfrm>
          <a:prstGeom prst="roundRect">
            <a:avLst>
              <a:gd name="adj" fmla="val 8571"/>
            </a:avLst>
          </a:prstGeom>
          <a:solidFill>
            <a:schemeClr val="tx2"/>
          </a:solidFill>
          <a:ln w="12700">
            <a:solidFill>
              <a:schemeClr val="accent5"/>
            </a:solidFill>
            <a:prstDash val="solid"/>
          </a:ln>
        </p:spPr>
      </p:sp>
      <p:sp>
        <p:nvSpPr>
          <p:cNvPr id="10" name="Step text"/>
          <p:cNvSpPr txBox="1"/>
          <p:nvPr/>
        </p:nvSpPr>
        <p:spPr>
          <a:xfrm>
            <a:off x="8295437" y="201168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03  </a:t>
            </a:r>
            <a:pPr indent="0" marL="0">
              <a:buNone/>
            </a:pPr>
            <a:r>
              <a:rPr lang="en-US" sz="1900" b="1" dirty="0">
                <a:solidFill>
                  <a:schemeClr val="bg1"/>
                </a:solidFill>
              </a:rPr>
              <a:t>Plan queries</a:t>
            </a:r>
            <a:endParaRPr lang="en-US" sz="1300" dirty="0"/>
          </a:p>
          <a:p>
            <a:pPr indent="0" marL="0">
              <a:spcBef>
                <a:spcPts val="600"/>
              </a:spcBef>
              <a:buNone/>
            </a:pPr>
            <a:r>
              <a:rPr lang="en-US" sz="1400" dirty="0">
                <a:solidFill>
                  <a:schemeClr val="bg2"/>
                </a:solidFill>
              </a:rPr>
              <a:t>Confirming and disconfirming searches</a:t>
            </a:r>
            <a:endParaRPr lang="en-US" sz="1300" dirty="0"/>
          </a:p>
        </p:txBody>
      </p:sp>
      <p:sp>
        <p:nvSpPr>
          <p:cNvPr id="11" name="Card"/>
          <p:cNvSpPr/>
          <p:nvPr/>
        </p:nvSpPr>
        <p:spPr>
          <a:xfrm>
            <a:off x="640080" y="3291840"/>
            <a:ext cx="3484778" cy="1280160"/>
          </a:xfrm>
          <a:prstGeom prst="roundRect">
            <a:avLst>
              <a:gd name="adj" fmla="val 8571"/>
            </a:avLst>
          </a:prstGeom>
          <a:solidFill>
            <a:schemeClr val="tx2"/>
          </a:solidFill>
          <a:ln w="12700">
            <a:solidFill>
              <a:schemeClr val="accent5"/>
            </a:solidFill>
            <a:prstDash val="solid"/>
          </a:ln>
        </p:spPr>
      </p:sp>
      <p:sp>
        <p:nvSpPr>
          <p:cNvPr id="12" name="Step text"/>
          <p:cNvSpPr txBox="1"/>
          <p:nvPr/>
        </p:nvSpPr>
        <p:spPr>
          <a:xfrm>
            <a:off x="868680" y="347472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04  </a:t>
            </a:r>
            <a:pPr indent="0" marL="0">
              <a:buNone/>
            </a:pPr>
            <a:r>
              <a:rPr lang="en-US" sz="1900" b="1" dirty="0">
                <a:solidFill>
                  <a:schemeClr val="bg1"/>
                </a:solidFill>
              </a:rPr>
              <a:t>Retrieve</a:t>
            </a:r>
            <a:endParaRPr lang="en-US" sz="1300" dirty="0"/>
          </a:p>
          <a:p>
            <a:pPr indent="0" marL="0">
              <a:spcBef>
                <a:spcPts val="600"/>
              </a:spcBef>
              <a:buNone/>
            </a:pPr>
            <a:r>
              <a:rPr lang="en-US" sz="1400" dirty="0">
                <a:solidFill>
                  <a:schemeClr val="bg2"/>
                </a:solidFill>
              </a:rPr>
              <a:t>Search, news, Wikipedia, PubMed, Crossref</a:t>
            </a:r>
            <a:endParaRPr lang="en-US" sz="1300" dirty="0"/>
          </a:p>
        </p:txBody>
      </p:sp>
      <p:sp>
        <p:nvSpPr>
          <p:cNvPr id="13" name="Card"/>
          <p:cNvSpPr/>
          <p:nvPr/>
        </p:nvSpPr>
        <p:spPr>
          <a:xfrm>
            <a:off x="4353458" y="3291840"/>
            <a:ext cx="3484778" cy="1280160"/>
          </a:xfrm>
          <a:prstGeom prst="roundRect">
            <a:avLst>
              <a:gd name="adj" fmla="val 8571"/>
            </a:avLst>
          </a:prstGeom>
          <a:solidFill>
            <a:schemeClr val="tx2"/>
          </a:solidFill>
          <a:ln w="12700">
            <a:solidFill>
              <a:schemeClr val="accent5"/>
            </a:solidFill>
            <a:prstDash val="solid"/>
          </a:ln>
        </p:spPr>
      </p:sp>
      <p:sp>
        <p:nvSpPr>
          <p:cNvPr id="14" name="Step text"/>
          <p:cNvSpPr txBox="1"/>
          <p:nvPr/>
        </p:nvSpPr>
        <p:spPr>
          <a:xfrm>
            <a:off x="4582058" y="347472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05  </a:t>
            </a:r>
            <a:pPr indent="0" marL="0">
              <a:buNone/>
            </a:pPr>
            <a:r>
              <a:rPr lang="en-US" sz="1900" b="1" dirty="0">
                <a:solidFill>
                  <a:schemeClr val="bg1"/>
                </a:solidFill>
              </a:rPr>
              <a:t>Read and rank</a:t>
            </a:r>
            <a:endParaRPr lang="en-US" sz="1300" dirty="0"/>
          </a:p>
          <a:p>
            <a:pPr indent="0" marL="0">
              <a:spcBef>
                <a:spcPts val="600"/>
              </a:spcBef>
              <a:buNone/>
            </a:pPr>
            <a:r>
              <a:rPr lang="en-US" sz="1400" dirty="0">
                <a:solidFill>
                  <a:schemeClr val="bg2"/>
                </a:solidFill>
              </a:rPr>
              <a:t>Best passage per page, BM25 then cross-encoder</a:t>
            </a:r>
            <a:endParaRPr lang="en-US" sz="1300" dirty="0"/>
          </a:p>
        </p:txBody>
      </p:sp>
      <p:sp>
        <p:nvSpPr>
          <p:cNvPr id="15" name="Card"/>
          <p:cNvSpPr/>
          <p:nvPr/>
        </p:nvSpPr>
        <p:spPr>
          <a:xfrm>
            <a:off x="8066837" y="3291840"/>
            <a:ext cx="3484778" cy="1280160"/>
          </a:xfrm>
          <a:prstGeom prst="roundRect">
            <a:avLst>
              <a:gd name="adj" fmla="val 8571"/>
            </a:avLst>
          </a:prstGeom>
          <a:solidFill>
            <a:schemeClr val="tx2"/>
          </a:solidFill>
          <a:ln w="12700">
            <a:solidFill>
              <a:schemeClr val="accent5"/>
            </a:solidFill>
            <a:prstDash val="solid"/>
          </a:ln>
        </p:spPr>
      </p:sp>
      <p:sp>
        <p:nvSpPr>
          <p:cNvPr id="16" name="Step text"/>
          <p:cNvSpPr txBox="1"/>
          <p:nvPr/>
        </p:nvSpPr>
        <p:spPr>
          <a:xfrm>
            <a:off x="8295437" y="347472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06  </a:t>
            </a:r>
            <a:pPr indent="0" marL="0">
              <a:buNone/>
            </a:pPr>
            <a:r>
              <a:rPr lang="en-US" sz="1900" b="1" dirty="0">
                <a:solidFill>
                  <a:schemeClr val="bg1"/>
                </a:solidFill>
              </a:rPr>
              <a:t>Deduplicate</a:t>
            </a:r>
            <a:endParaRPr lang="en-US" sz="1300" dirty="0"/>
          </a:p>
          <a:p>
            <a:pPr indent="0" marL="0">
              <a:spcBef>
                <a:spcPts val="600"/>
              </a:spcBef>
              <a:buNone/>
            </a:pPr>
            <a:r>
              <a:rPr lang="en-US" sz="1400" dirty="0">
                <a:solidFill>
                  <a:schemeClr val="bg2"/>
                </a:solidFill>
              </a:rPr>
              <a:t>A syndicated story counts only once</a:t>
            </a:r>
            <a:endParaRPr lang="en-US" sz="1300" dirty="0"/>
          </a:p>
        </p:txBody>
      </p:sp>
      <p:sp>
        <p:nvSpPr>
          <p:cNvPr id="17" name="Card"/>
          <p:cNvSpPr/>
          <p:nvPr/>
        </p:nvSpPr>
        <p:spPr>
          <a:xfrm>
            <a:off x="640080" y="4754880"/>
            <a:ext cx="3484778" cy="1280160"/>
          </a:xfrm>
          <a:prstGeom prst="roundRect">
            <a:avLst>
              <a:gd name="adj" fmla="val 8571"/>
            </a:avLst>
          </a:prstGeom>
          <a:solidFill>
            <a:schemeClr val="tx2"/>
          </a:solidFill>
          <a:ln w="12700">
            <a:solidFill>
              <a:schemeClr val="accent5"/>
            </a:solidFill>
            <a:prstDash val="solid"/>
          </a:ln>
        </p:spPr>
      </p:sp>
      <p:sp>
        <p:nvSpPr>
          <p:cNvPr id="18" name="Step text"/>
          <p:cNvSpPr txBox="1"/>
          <p:nvPr/>
        </p:nvSpPr>
        <p:spPr>
          <a:xfrm>
            <a:off x="868680" y="493776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07  </a:t>
            </a:r>
            <a:pPr indent="0" marL="0">
              <a:buNone/>
            </a:pPr>
            <a:r>
              <a:rPr lang="en-US" sz="1900" b="1" dirty="0">
                <a:solidFill>
                  <a:schemeClr val="bg1"/>
                </a:solidFill>
              </a:rPr>
              <a:t>Judge stance</a:t>
            </a:r>
            <a:endParaRPr lang="en-US" sz="1300" dirty="0"/>
          </a:p>
          <a:p>
            <a:pPr indent="0" marL="0">
              <a:spcBef>
                <a:spcPts val="600"/>
              </a:spcBef>
              <a:buNone/>
            </a:pPr>
            <a:r>
              <a:rPr lang="en-US" sz="1400" dirty="0">
                <a:solidFill>
                  <a:schemeClr val="bg2"/>
                </a:solidFill>
              </a:rPr>
              <a:t>Supports, refutes or neutral, with a verbatim quote</a:t>
            </a:r>
            <a:endParaRPr lang="en-US" sz="1300" dirty="0"/>
          </a:p>
        </p:txBody>
      </p:sp>
      <p:sp>
        <p:nvSpPr>
          <p:cNvPr id="19" name="Card"/>
          <p:cNvSpPr/>
          <p:nvPr/>
        </p:nvSpPr>
        <p:spPr>
          <a:xfrm>
            <a:off x="4353458" y="4754880"/>
            <a:ext cx="3484778" cy="1280160"/>
          </a:xfrm>
          <a:prstGeom prst="roundRect">
            <a:avLst>
              <a:gd name="adj" fmla="val 8571"/>
            </a:avLst>
          </a:prstGeom>
          <a:solidFill>
            <a:schemeClr val="tx2"/>
          </a:solidFill>
          <a:ln w="12700">
            <a:solidFill>
              <a:schemeClr val="accent5"/>
            </a:solidFill>
            <a:prstDash val="solid"/>
          </a:ln>
        </p:spPr>
      </p:sp>
      <p:sp>
        <p:nvSpPr>
          <p:cNvPr id="20" name="Step text"/>
          <p:cNvSpPr txBox="1"/>
          <p:nvPr/>
        </p:nvSpPr>
        <p:spPr>
          <a:xfrm>
            <a:off x="4582058" y="493776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08  </a:t>
            </a:r>
            <a:pPr indent="0" marL="0">
              <a:buNone/>
            </a:pPr>
            <a:r>
              <a:rPr lang="en-US" sz="1900" b="1" dirty="0">
                <a:solidFill>
                  <a:schemeClr val="bg1"/>
                </a:solidFill>
              </a:rPr>
              <a:t>Weigh sources</a:t>
            </a:r>
            <a:endParaRPr lang="en-US" sz="1300" dirty="0"/>
          </a:p>
          <a:p>
            <a:pPr indent="0" marL="0">
              <a:spcBef>
                <a:spcPts val="600"/>
              </a:spcBef>
              <a:buNone/>
            </a:pPr>
            <a:r>
              <a:rPr lang="en-US" sz="1400" dirty="0">
                <a:solidFill>
                  <a:schemeClr val="bg2"/>
                </a:solidFill>
              </a:rPr>
              <a:t>Transparent rule-based credibility prior</a:t>
            </a:r>
            <a:endParaRPr lang="en-US" sz="1300" dirty="0"/>
          </a:p>
        </p:txBody>
      </p:sp>
      <p:sp>
        <p:nvSpPr>
          <p:cNvPr id="21" name="Card"/>
          <p:cNvSpPr/>
          <p:nvPr/>
        </p:nvSpPr>
        <p:spPr>
          <a:xfrm>
            <a:off x="8066837" y="4754880"/>
            <a:ext cx="3484778" cy="1280160"/>
          </a:xfrm>
          <a:prstGeom prst="roundRect">
            <a:avLst>
              <a:gd name="adj" fmla="val 8571"/>
            </a:avLst>
          </a:prstGeom>
          <a:solidFill>
            <a:schemeClr val="tx2"/>
          </a:solidFill>
          <a:ln w="25400">
            <a:solidFill>
              <a:schemeClr val="accent1"/>
            </a:solidFill>
            <a:prstDash val="solid"/>
          </a:ln>
        </p:spPr>
      </p:sp>
      <p:sp>
        <p:nvSpPr>
          <p:cNvPr id="22" name="Step text"/>
          <p:cNvSpPr txBox="1"/>
          <p:nvPr/>
        </p:nvSpPr>
        <p:spPr>
          <a:xfrm>
            <a:off x="8295437" y="4937760"/>
            <a:ext cx="3027578" cy="96012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09  </a:t>
            </a:r>
            <a:pPr indent="0" marL="0">
              <a:buNone/>
            </a:pPr>
            <a:r>
              <a:rPr lang="en-US" sz="1900" b="1" dirty="0">
                <a:solidFill>
                  <a:schemeClr val="bg1"/>
                </a:solidFill>
              </a:rPr>
              <a:t>Aggregate</a:t>
            </a:r>
            <a:endParaRPr lang="en-US" sz="1300" dirty="0"/>
          </a:p>
          <a:p>
            <a:pPr indent="0" marL="0">
              <a:spcBef>
                <a:spcPts val="600"/>
              </a:spcBef>
              <a:buNone/>
            </a:pPr>
            <a:r>
              <a:rPr lang="en-US" sz="1400" dirty="0">
                <a:solidFill>
                  <a:schemeClr val="bg2"/>
                </a:solidFill>
              </a:rPr>
              <a:t>Rule-based verdict, or Unverifiable</a:t>
            </a:r>
            <a:endParaRPr lang="en-US" sz="13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TRUST AND SAFETY</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Guardrails enforced in code</a:t>
            </a:r>
            <a:endParaRPr lang="en-US" sz="3600" dirty="0"/>
          </a:p>
        </p:txBody>
      </p:sp>
      <p:sp>
        <p:nvSpPr>
          <p:cNvPr id="5" name="Card"/>
          <p:cNvSpPr/>
          <p:nvPr/>
        </p:nvSpPr>
        <p:spPr>
          <a:xfrm>
            <a:off x="640080" y="1828800"/>
            <a:ext cx="5318608" cy="1280160"/>
          </a:xfrm>
          <a:prstGeom prst="roundRect">
            <a:avLst>
              <a:gd name="adj" fmla="val 8571"/>
            </a:avLst>
          </a:prstGeom>
          <a:solidFill>
            <a:schemeClr val="tx2"/>
          </a:solidFill>
          <a:ln w="12700">
            <a:solidFill>
              <a:schemeClr val="accent5"/>
            </a:solidFill>
            <a:prstDash val="solid"/>
          </a:ln>
        </p:spPr>
      </p:sp>
      <p:sp>
        <p:nvSpPr>
          <p:cNvPr id="6" name="Card text"/>
          <p:cNvSpPr txBox="1"/>
          <p:nvPr/>
        </p:nvSpPr>
        <p:spPr>
          <a:xfrm>
            <a:off x="868680" y="2011680"/>
            <a:ext cx="4861408" cy="914400"/>
          </a:xfrm>
          <a:prstGeom prst="rect">
            <a:avLst/>
          </a:prstGeom>
          <a:noFill/>
          <a:ln/>
        </p:spPr>
        <p:txBody>
          <a:bodyPr wrap="square" lIns="0" tIns="0" rIns="0" bIns="0" rtlCol="0" anchor="t"/>
          <a:lstStyle/>
          <a:p>
            <a:pPr indent="0" marL="0">
              <a:buNone/>
            </a:pPr>
            <a:r>
              <a:rPr lang="en-US" sz="2000" b="1" dirty="0">
                <a:solidFill>
                  <a:schemeClr val="accent1"/>
                </a:solidFill>
              </a:rPr>
              <a:t>No answers from memory</a:t>
            </a:r>
            <a:endParaRPr lang="en-US" sz="2000" dirty="0"/>
          </a:p>
          <a:p>
            <a:pPr indent="0" marL="0">
              <a:spcBef>
                <a:spcPts val="500"/>
              </a:spcBef>
              <a:buNone/>
            </a:pPr>
            <a:r>
              <a:rPr lang="en-US" sz="1500" dirty="0">
                <a:solidFill>
                  <a:schemeClr val="bg2"/>
                </a:solidFill>
              </a:rPr>
              <a:t>The model only reads passages we retrieved.</a:t>
            </a:r>
            <a:endParaRPr lang="en-US" sz="2000" dirty="0"/>
          </a:p>
        </p:txBody>
      </p:sp>
      <p:sp>
        <p:nvSpPr>
          <p:cNvPr id="7" name="Card"/>
          <p:cNvSpPr/>
          <p:nvPr/>
        </p:nvSpPr>
        <p:spPr>
          <a:xfrm>
            <a:off x="6233008" y="1828800"/>
            <a:ext cx="5318608" cy="1280160"/>
          </a:xfrm>
          <a:prstGeom prst="roundRect">
            <a:avLst>
              <a:gd name="adj" fmla="val 8571"/>
            </a:avLst>
          </a:prstGeom>
          <a:solidFill>
            <a:schemeClr val="tx2"/>
          </a:solidFill>
          <a:ln w="12700">
            <a:solidFill>
              <a:schemeClr val="accent5"/>
            </a:solidFill>
            <a:prstDash val="solid"/>
          </a:ln>
        </p:spPr>
      </p:sp>
      <p:sp>
        <p:nvSpPr>
          <p:cNvPr id="8" name="Card text"/>
          <p:cNvSpPr txBox="1"/>
          <p:nvPr/>
        </p:nvSpPr>
        <p:spPr>
          <a:xfrm>
            <a:off x="6461608" y="2011680"/>
            <a:ext cx="4861408" cy="914400"/>
          </a:xfrm>
          <a:prstGeom prst="rect">
            <a:avLst/>
          </a:prstGeom>
          <a:noFill/>
          <a:ln/>
        </p:spPr>
        <p:txBody>
          <a:bodyPr wrap="square" lIns="0" tIns="0" rIns="0" bIns="0" rtlCol="0" anchor="t"/>
          <a:lstStyle/>
          <a:p>
            <a:pPr indent="0" marL="0">
              <a:buNone/>
            </a:pPr>
            <a:r>
              <a:rPr lang="en-US" sz="2000" b="1" dirty="0">
                <a:solidFill>
                  <a:schemeClr val="accent1"/>
                </a:solidFill>
              </a:rPr>
              <a:t>Quotes must be real</a:t>
            </a:r>
            <a:endParaRPr lang="en-US" sz="2000" dirty="0"/>
          </a:p>
          <a:p>
            <a:pPr indent="0" marL="0">
              <a:spcBef>
                <a:spcPts val="500"/>
              </a:spcBef>
              <a:buNone/>
            </a:pPr>
            <a:r>
              <a:rPr lang="en-US" sz="1500" dirty="0">
                <a:solidFill>
                  <a:schemeClr val="bg2"/>
                </a:solidFill>
              </a:rPr>
              <a:t>A stance is discarded unless its quote appears verbatim in the passage.</a:t>
            </a:r>
            <a:endParaRPr lang="en-US" sz="2000" dirty="0"/>
          </a:p>
        </p:txBody>
      </p:sp>
      <p:sp>
        <p:nvSpPr>
          <p:cNvPr id="9" name="Card"/>
          <p:cNvSpPr/>
          <p:nvPr/>
        </p:nvSpPr>
        <p:spPr>
          <a:xfrm>
            <a:off x="640080" y="3291840"/>
            <a:ext cx="5318608" cy="1280160"/>
          </a:xfrm>
          <a:prstGeom prst="roundRect">
            <a:avLst>
              <a:gd name="adj" fmla="val 8571"/>
            </a:avLst>
          </a:prstGeom>
          <a:solidFill>
            <a:schemeClr val="tx2"/>
          </a:solidFill>
          <a:ln w="12700">
            <a:solidFill>
              <a:schemeClr val="accent5"/>
            </a:solidFill>
            <a:prstDash val="solid"/>
          </a:ln>
        </p:spPr>
      </p:sp>
      <p:sp>
        <p:nvSpPr>
          <p:cNvPr id="10" name="Card text"/>
          <p:cNvSpPr txBox="1"/>
          <p:nvPr/>
        </p:nvSpPr>
        <p:spPr>
          <a:xfrm>
            <a:off x="868680" y="3474720"/>
            <a:ext cx="4861408" cy="914400"/>
          </a:xfrm>
          <a:prstGeom prst="rect">
            <a:avLst/>
          </a:prstGeom>
          <a:noFill/>
          <a:ln/>
        </p:spPr>
        <p:txBody>
          <a:bodyPr wrap="square" lIns="0" tIns="0" rIns="0" bIns="0" rtlCol="0" anchor="t"/>
          <a:lstStyle/>
          <a:p>
            <a:pPr indent="0" marL="0">
              <a:buNone/>
            </a:pPr>
            <a:r>
              <a:rPr lang="en-US" sz="2000" b="1" dirty="0">
                <a:solidFill>
                  <a:schemeClr val="accent1"/>
                </a:solidFill>
              </a:rPr>
              <a:t>No forced verdicts</a:t>
            </a:r>
            <a:endParaRPr lang="en-US" sz="2000" dirty="0"/>
          </a:p>
          <a:p>
            <a:pPr indent="0" marL="0">
              <a:spcBef>
                <a:spcPts val="500"/>
              </a:spcBef>
              <a:buNone/>
            </a:pPr>
            <a:r>
              <a:rPr lang="en-US" sz="1500" dirty="0">
                <a:solidFill>
                  <a:schemeClr val="bg2"/>
                </a:solidFill>
              </a:rPr>
              <a:t>Thin or conflicting evidence ends as Unverifiable or Disputed.</a:t>
            </a:r>
            <a:endParaRPr lang="en-US" sz="2000" dirty="0"/>
          </a:p>
        </p:txBody>
      </p:sp>
      <p:sp>
        <p:nvSpPr>
          <p:cNvPr id="11" name="Card"/>
          <p:cNvSpPr/>
          <p:nvPr/>
        </p:nvSpPr>
        <p:spPr>
          <a:xfrm>
            <a:off x="6233008" y="3291840"/>
            <a:ext cx="5318608" cy="1280160"/>
          </a:xfrm>
          <a:prstGeom prst="roundRect">
            <a:avLst>
              <a:gd name="adj" fmla="val 8571"/>
            </a:avLst>
          </a:prstGeom>
          <a:solidFill>
            <a:schemeClr val="tx2"/>
          </a:solidFill>
          <a:ln w="12700">
            <a:solidFill>
              <a:schemeClr val="accent5"/>
            </a:solidFill>
            <a:prstDash val="solid"/>
          </a:ln>
        </p:spPr>
      </p:sp>
      <p:sp>
        <p:nvSpPr>
          <p:cNvPr id="12" name="Card text"/>
          <p:cNvSpPr txBox="1"/>
          <p:nvPr/>
        </p:nvSpPr>
        <p:spPr>
          <a:xfrm>
            <a:off x="6461608" y="3474720"/>
            <a:ext cx="4861408" cy="914400"/>
          </a:xfrm>
          <a:prstGeom prst="rect">
            <a:avLst/>
          </a:prstGeom>
          <a:noFill/>
          <a:ln/>
        </p:spPr>
        <p:txBody>
          <a:bodyPr wrap="square" lIns="0" tIns="0" rIns="0" bIns="0" rtlCol="0" anchor="t"/>
          <a:lstStyle/>
          <a:p>
            <a:pPr indent="0" marL="0">
              <a:buNone/>
            </a:pPr>
            <a:r>
              <a:rPr lang="en-US" sz="2000" b="1" dirty="0">
                <a:solidFill>
                  <a:schemeClr val="accent1"/>
                </a:solidFill>
              </a:rPr>
              <a:t>Stricter when it matters</a:t>
            </a:r>
            <a:endParaRPr lang="en-US" sz="2000" dirty="0"/>
          </a:p>
          <a:p>
            <a:pPr indent="0" marL="0">
              <a:spcBef>
                <a:spcPts val="500"/>
              </a:spcBef>
              <a:buNone/>
            </a:pPr>
            <a:r>
              <a:rPr lang="en-US" sz="1500" dirty="0">
                <a:solidFill>
                  <a:schemeClr val="bg2"/>
                </a:solidFill>
              </a:rPr>
              <a:t>Health, election and violence claims need three independent domains.</a:t>
            </a:r>
            <a:endParaRPr lang="en-US" sz="2000" dirty="0"/>
          </a:p>
        </p:txBody>
      </p:sp>
      <p:sp>
        <p:nvSpPr>
          <p:cNvPr id="13" name="Card"/>
          <p:cNvSpPr/>
          <p:nvPr/>
        </p:nvSpPr>
        <p:spPr>
          <a:xfrm>
            <a:off x="640080" y="4754880"/>
            <a:ext cx="5318608" cy="1280160"/>
          </a:xfrm>
          <a:prstGeom prst="roundRect">
            <a:avLst>
              <a:gd name="adj" fmla="val 8571"/>
            </a:avLst>
          </a:prstGeom>
          <a:solidFill>
            <a:schemeClr val="tx2"/>
          </a:solidFill>
          <a:ln w="12700">
            <a:solidFill>
              <a:schemeClr val="accent5"/>
            </a:solidFill>
            <a:prstDash val="solid"/>
          </a:ln>
        </p:spPr>
      </p:sp>
      <p:sp>
        <p:nvSpPr>
          <p:cNvPr id="14" name="Card text"/>
          <p:cNvSpPr txBox="1"/>
          <p:nvPr/>
        </p:nvSpPr>
        <p:spPr>
          <a:xfrm>
            <a:off x="868680" y="4937760"/>
            <a:ext cx="4861408" cy="914400"/>
          </a:xfrm>
          <a:prstGeom prst="rect">
            <a:avLst/>
          </a:prstGeom>
          <a:noFill/>
          <a:ln/>
        </p:spPr>
        <p:txBody>
          <a:bodyPr wrap="square" lIns="0" tIns="0" rIns="0" bIns="0" rtlCol="0" anchor="t"/>
          <a:lstStyle/>
          <a:p>
            <a:pPr indent="0" marL="0">
              <a:buNone/>
            </a:pPr>
            <a:r>
              <a:rPr lang="en-US" sz="2000" b="1" dirty="0">
                <a:solidFill>
                  <a:schemeClr val="accent1"/>
                </a:solidFill>
              </a:rPr>
              <a:t>Honest confidence</a:t>
            </a:r>
            <a:endParaRPr lang="en-US" sz="2000" dirty="0"/>
          </a:p>
          <a:p>
            <a:pPr indent="0" marL="0">
              <a:spcBef>
                <a:spcPts val="500"/>
              </a:spcBef>
              <a:buNone/>
            </a:pPr>
            <a:r>
              <a:rPr lang="en-US" sz="1500" dirty="0">
                <a:solidFill>
                  <a:schemeClr val="bg2"/>
                </a:solidFill>
              </a:rPr>
              <a:t>Computed from agreement and source weight, and labelled uncalibrated.</a:t>
            </a:r>
            <a:endParaRPr lang="en-US" sz="2000" dirty="0"/>
          </a:p>
        </p:txBody>
      </p:sp>
      <p:sp>
        <p:nvSpPr>
          <p:cNvPr id="15" name="Card"/>
          <p:cNvSpPr/>
          <p:nvPr/>
        </p:nvSpPr>
        <p:spPr>
          <a:xfrm>
            <a:off x="6233008" y="4754880"/>
            <a:ext cx="5318608" cy="1280160"/>
          </a:xfrm>
          <a:prstGeom prst="roundRect">
            <a:avLst>
              <a:gd name="adj" fmla="val 8571"/>
            </a:avLst>
          </a:prstGeom>
          <a:solidFill>
            <a:schemeClr val="tx2"/>
          </a:solidFill>
          <a:ln w="12700">
            <a:solidFill>
              <a:schemeClr val="accent5"/>
            </a:solidFill>
            <a:prstDash val="solid"/>
          </a:ln>
        </p:spPr>
      </p:sp>
      <p:sp>
        <p:nvSpPr>
          <p:cNvPr id="16" name="Card text"/>
          <p:cNvSpPr txBox="1"/>
          <p:nvPr/>
        </p:nvSpPr>
        <p:spPr>
          <a:xfrm>
            <a:off x="6461608" y="4937760"/>
            <a:ext cx="4861408" cy="914400"/>
          </a:xfrm>
          <a:prstGeom prst="rect">
            <a:avLst/>
          </a:prstGeom>
          <a:noFill/>
          <a:ln/>
        </p:spPr>
        <p:txBody>
          <a:bodyPr wrap="square" lIns="0" tIns="0" rIns="0" bIns="0" rtlCol="0" anchor="t"/>
          <a:lstStyle/>
          <a:p>
            <a:pPr indent="0" marL="0">
              <a:buNone/>
            </a:pPr>
            <a:r>
              <a:rPr lang="en-US" sz="2000" b="1" dirty="0">
                <a:solidFill>
                  <a:schemeClr val="accent1"/>
                </a:solidFill>
              </a:rPr>
              <a:t>Limits travel with results</a:t>
            </a:r>
            <a:endParaRPr lang="en-US" sz="2000" dirty="0"/>
          </a:p>
          <a:p>
            <a:pPr indent="0" marL="0">
              <a:spcBef>
                <a:spcPts val="500"/>
              </a:spcBef>
              <a:buNone/>
            </a:pPr>
            <a:r>
              <a:rPr lang="en-US" sz="1500" dirty="0">
                <a:solidFill>
                  <a:schemeClr val="bg2"/>
                </a:solidFill>
              </a:rPr>
              <a:t>Every result lists what could not be verified.</a:t>
            </a:r>
            <a:endParaRPr lang="en-US" sz="20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AGGREGATION</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How a verdict is computed</a:t>
            </a:r>
            <a:endParaRPr lang="en-US" sz="3600" dirty="0"/>
          </a:p>
        </p:txBody>
      </p:sp>
      <p:sp>
        <p:nvSpPr>
          <p:cNvPr id="5" name="Card"/>
          <p:cNvSpPr/>
          <p:nvPr/>
        </p:nvSpPr>
        <p:spPr>
          <a:xfrm>
            <a:off x="640080" y="1828800"/>
            <a:ext cx="5577840" cy="2011680"/>
          </a:xfrm>
          <a:prstGeom prst="roundRect">
            <a:avLst>
              <a:gd name="adj" fmla="val 5455"/>
            </a:avLst>
          </a:prstGeom>
          <a:solidFill>
            <a:schemeClr val="tx2"/>
          </a:solidFill>
          <a:ln w="12700">
            <a:solidFill>
              <a:schemeClr val="accent5"/>
            </a:solidFill>
            <a:prstDash val="solid"/>
          </a:ln>
        </p:spPr>
      </p:sp>
      <p:sp>
        <p:nvSpPr>
          <p:cNvPr id="6" name="Formulas"/>
          <p:cNvSpPr txBox="1"/>
          <p:nvPr/>
        </p:nvSpPr>
        <p:spPr>
          <a:xfrm>
            <a:off x="914400" y="2057400"/>
            <a:ext cx="5029200" cy="16459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WEIGHT OF EACH SOURCE</a:t>
            </a:r>
            <a:endParaRPr lang="en-US" sz="1200" dirty="0"/>
          </a:p>
          <a:p>
            <a:pPr indent="0" marL="0">
              <a:spcBef>
                <a:spcPts val="400"/>
              </a:spcBef>
              <a:buNone/>
            </a:pPr>
            <a:r>
              <a:rPr lang="en-US" sz="1600" dirty="0">
                <a:solidFill>
                  <a:schemeClr val="accent1"/>
                </a:solidFill>
                <a:latin typeface="Courier New" pitchFamily="34" charset="0"/>
                <a:ea typeface="Courier New" pitchFamily="34" charset="-122"/>
                <a:cs typeface="Courier New" pitchFamily="34" charset="-120"/>
              </a:rPr>
              <a:t>credibility × (0.5 + 0.5 × relevance)</a:t>
            </a:r>
            <a:endParaRPr lang="en-US" sz="1200" dirty="0"/>
          </a:p>
          <a:p>
            <a:pPr indent="0" marL="0">
              <a:spcBef>
                <a:spcPts val="1600"/>
              </a:spcBef>
              <a:buNone/>
            </a:pPr>
            <a:r>
              <a:rPr lang="en-US" sz="1200" dirty="0">
                <a:solidFill>
                  <a:schemeClr val="accent6"/>
                </a:solidFill>
                <a:latin typeface="Courier New" pitchFamily="34" charset="0"/>
                <a:ea typeface="Courier New" pitchFamily="34" charset="-122"/>
                <a:cs typeface="Courier New" pitchFamily="34" charset="-120"/>
              </a:rPr>
              <a:t>SHARE OF SUPPORT</a:t>
            </a:r>
            <a:endParaRPr lang="en-US" sz="1200" dirty="0"/>
          </a:p>
          <a:p>
            <a:pPr indent="0" marL="0">
              <a:spcBef>
                <a:spcPts val="400"/>
              </a:spcBef>
              <a:buNone/>
            </a:pPr>
            <a:r>
              <a:rPr lang="en-US" sz="1600" dirty="0">
                <a:solidFill>
                  <a:schemeClr val="accent1"/>
                </a:solidFill>
                <a:latin typeface="Courier New" pitchFamily="34" charset="0"/>
                <a:ea typeface="Courier New" pitchFamily="34" charset="-122"/>
                <a:cs typeface="Courier New" pitchFamily="34" charset="-120"/>
              </a:rPr>
              <a:t>p = support / (support + refute)</a:t>
            </a:r>
            <a:endParaRPr lang="en-US" sz="1200" dirty="0"/>
          </a:p>
        </p:txBody>
      </p:sp>
      <p:sp>
        <p:nvSpPr>
          <p:cNvPr id="7" name="Gates"/>
          <p:cNvSpPr txBox="1"/>
          <p:nvPr/>
        </p:nvSpPr>
        <p:spPr>
          <a:xfrm>
            <a:off x="640080" y="4114800"/>
            <a:ext cx="5577840" cy="1920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bg1"/>
                </a:solidFill>
              </a:rPr>
              <a:t>At least 2 independent domains (3 for sensitive topics)</a:t>
            </a:r>
            <a:endParaRPr lang="en-US" sz="1600" dirty="0"/>
          </a:p>
          <a:p>
            <a:pPr marL="342900" indent="-342900">
              <a:spcAft>
                <a:spcPts val="800"/>
              </a:spcAft>
              <a:buSzPct val="100000"/>
              <a:buChar char="•"/>
            </a:pPr>
            <a:r>
              <a:rPr lang="en-US" sz="1600" dirty="0">
                <a:solidFill>
                  <a:schemeClr val="bg1"/>
                </a:solidFill>
              </a:rPr>
              <a:t>Total weight of at least 0.9</a:t>
            </a:r>
            <a:endParaRPr lang="en-US" sz="1600" dirty="0"/>
          </a:p>
          <a:p>
            <a:pPr marL="342900" indent="-342900">
              <a:buSzPct val="100000"/>
              <a:buChar char="•"/>
            </a:pPr>
            <a:r>
              <a:rPr lang="en-US" sz="1600" dirty="0">
                <a:solidFill>
                  <a:schemeClr val="bg1"/>
                </a:solidFill>
              </a:rPr>
              <a:t>Strong disagreement gives Disputed, with no confidence number</a:t>
            </a:r>
            <a:endParaRPr lang="en-US" sz="1600" dirty="0"/>
          </a:p>
        </p:txBody>
      </p:sp>
      <p:graphicFrame>
        <p:nvGraphicFramePr>
          <p:cNvPr id="8" name="Verdict table"/>
          <p:cNvGraphicFramePr>
            <a:graphicFrameLocks noGrp="1"/>
          </p:cNvGraphicFramePr>
          <p:nvPr>
            <p:extLst>
              <p:ext uri="{D42A27DB-BD31-4B8C-83A1-F6EECF244321}">
                <p14:modId xmlns:p14="http://schemas.microsoft.com/office/powerpoint/2010/main" val="1579011935"/>
              </p:ext>
            </p:extLst>
          </p:nvPr>
        </p:nvGraphicFramePr>
        <p:xfrm>
          <a:off x="6675120" y="1828800"/>
          <a:ext cx="4873752" cy="914400"/>
        </p:xfrm>
        <a:graphic>
          <a:graphicData uri="http://schemas.openxmlformats.org/drawingml/2006/table">
            <a:tbl>
              <a:tblPr/>
              <a:tblGrid>
                <a:gridCol w="2651760"/>
                <a:gridCol w="2221992"/>
              </a:tblGrid>
              <a:tr h="566928">
                <a:tc>
                  <a:txBody>
                    <a:bodyPr/>
                    <a:lstStyle/>
                    <a:p>
                      <a:pPr indent="0" marL="0">
                        <a:buNone/>
                      </a:pPr>
                      <a:r>
                        <a:rPr lang="en-US" sz="1700" b="1" dirty="0">
                          <a:solidFill>
                            <a:schemeClr val="accent1"/>
                          </a:solidFill>
                        </a:rPr>
                        <a:t>Support share p</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700" b="1" dirty="0">
                          <a:solidFill>
                            <a:schemeClr val="accent1"/>
                          </a:solidFill>
                        </a:rPr>
                        <a:t>Verdict</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r>
              <a:tr h="566928">
                <a:tc>
                  <a:txBody>
                    <a:bodyPr/>
                    <a:lstStyle/>
                    <a:p>
                      <a:pPr indent="0" marL="0">
                        <a:buNone/>
                      </a:pPr>
                      <a:r>
                        <a:rPr lang="en-US" sz="1700" dirty="0">
                          <a:solidFill>
                            <a:schemeClr val="bg1"/>
                          </a:solidFill>
                        </a:rPr>
                        <a:t>0.85 or more</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True</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566928">
                <a:tc>
                  <a:txBody>
                    <a:bodyPr/>
                    <a:lstStyle/>
                    <a:p>
                      <a:pPr indent="0" marL="0">
                        <a:buNone/>
                      </a:pPr>
                      <a:r>
                        <a:rPr lang="en-US" sz="1700" dirty="0">
                          <a:solidFill>
                            <a:schemeClr val="bg1"/>
                          </a:solidFill>
                        </a:rPr>
                        <a:t>0.65 to 0.85</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Mostly True</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566928">
                <a:tc>
                  <a:txBody>
                    <a:bodyPr/>
                    <a:lstStyle/>
                    <a:p>
                      <a:pPr indent="0" marL="0">
                        <a:buNone/>
                      </a:pPr>
                      <a:r>
                        <a:rPr lang="en-US" sz="1700" dirty="0">
                          <a:solidFill>
                            <a:schemeClr val="bg1"/>
                          </a:solidFill>
                        </a:rPr>
                        <a:t>0.35 to 0.65</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Mixed</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566928">
                <a:tc>
                  <a:txBody>
                    <a:bodyPr/>
                    <a:lstStyle/>
                    <a:p>
                      <a:pPr indent="0" marL="0">
                        <a:buNone/>
                      </a:pPr>
                      <a:r>
                        <a:rPr lang="en-US" sz="1700" dirty="0">
                          <a:solidFill>
                            <a:schemeClr val="bg1"/>
                          </a:solidFill>
                        </a:rPr>
                        <a:t>0.15 to 0.35</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Mostly False</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566928">
                <a:tc>
                  <a:txBody>
                    <a:bodyPr/>
                    <a:lstStyle/>
                    <a:p>
                      <a:pPr indent="0" marL="0">
                        <a:buNone/>
                      </a:pPr>
                      <a:r>
                        <a:rPr lang="en-US" sz="1700" dirty="0">
                          <a:solidFill>
                            <a:schemeClr val="bg1"/>
                          </a:solidFill>
                        </a:rPr>
                        <a:t>0.15 or less</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False</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IMPLEMENTATION STATUS</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What is built and tested</a:t>
            </a:r>
            <a:endParaRPr lang="en-US" sz="3600" dirty="0"/>
          </a:p>
        </p:txBody>
      </p:sp>
      <p:sp>
        <p:nvSpPr>
          <p:cNvPr id="5" name="Stat rule"/>
          <p:cNvSpPr/>
          <p:nvPr/>
        </p:nvSpPr>
        <p:spPr>
          <a:xfrm>
            <a:off x="640080" y="1828800"/>
            <a:ext cx="2522144" cy="36576"/>
          </a:xfrm>
          <a:prstGeom prst="rect">
            <a:avLst/>
          </a:prstGeom>
          <a:solidFill>
            <a:schemeClr val="accent1"/>
          </a:solidFill>
          <a:ln/>
        </p:spPr>
      </p:sp>
      <p:sp>
        <p:nvSpPr>
          <p:cNvPr id="6" name="Stat"/>
          <p:cNvSpPr txBox="1"/>
          <p:nvPr/>
        </p:nvSpPr>
        <p:spPr>
          <a:xfrm>
            <a:off x="640080" y="1965960"/>
            <a:ext cx="2522144" cy="1645920"/>
          </a:xfrm>
          <a:prstGeom prst="rect">
            <a:avLst/>
          </a:prstGeom>
          <a:noFill/>
          <a:ln/>
        </p:spPr>
        <p:txBody>
          <a:bodyPr wrap="square" lIns="0" tIns="0" rIns="0" bIns="0" rtlCol="0" anchor="t"/>
          <a:lstStyle/>
          <a:p>
            <a:pPr indent="0" marL="0">
              <a:buNone/>
            </a:pPr>
            <a:r>
              <a:rPr lang="en-US" sz="5400" dirty="0">
                <a:solidFill>
                  <a:schemeClr val="accent1"/>
                </a:solidFill>
                <a:latin typeface="Cambria" pitchFamily="34" charset="0"/>
                <a:ea typeface="Cambria" pitchFamily="34" charset="-122"/>
                <a:cs typeface="Cambria" pitchFamily="34" charset="-120"/>
              </a:rPr>
              <a:t>39</a:t>
            </a:r>
            <a:endParaRPr lang="en-US" sz="5400" dirty="0"/>
          </a:p>
          <a:p>
            <a:pPr indent="0" marL="0">
              <a:spcBef>
                <a:spcPts val="200"/>
              </a:spcBef>
              <a:buNone/>
            </a:pPr>
            <a:r>
              <a:rPr lang="en-US" sz="1400" dirty="0">
                <a:solidFill>
                  <a:schemeClr val="bg2"/>
                </a:solidFill>
              </a:rPr>
              <a:t>automated tests passing across three codebases</a:t>
            </a:r>
            <a:endParaRPr lang="en-US" sz="5400" dirty="0"/>
          </a:p>
        </p:txBody>
      </p:sp>
      <p:sp>
        <p:nvSpPr>
          <p:cNvPr id="7" name="Stat rule"/>
          <p:cNvSpPr/>
          <p:nvPr/>
        </p:nvSpPr>
        <p:spPr>
          <a:xfrm>
            <a:off x="3436544" y="1828800"/>
            <a:ext cx="2522144" cy="36576"/>
          </a:xfrm>
          <a:prstGeom prst="rect">
            <a:avLst/>
          </a:prstGeom>
          <a:solidFill>
            <a:schemeClr val="accent1"/>
          </a:solidFill>
          <a:ln/>
        </p:spPr>
      </p:sp>
      <p:sp>
        <p:nvSpPr>
          <p:cNvPr id="8" name="Stat"/>
          <p:cNvSpPr txBox="1"/>
          <p:nvPr/>
        </p:nvSpPr>
        <p:spPr>
          <a:xfrm>
            <a:off x="3436544" y="1965960"/>
            <a:ext cx="2522144" cy="1645920"/>
          </a:xfrm>
          <a:prstGeom prst="rect">
            <a:avLst/>
          </a:prstGeom>
          <a:noFill/>
          <a:ln/>
        </p:spPr>
        <p:txBody>
          <a:bodyPr wrap="square" lIns="0" tIns="0" rIns="0" bIns="0" rtlCol="0" anchor="t"/>
          <a:lstStyle/>
          <a:p>
            <a:pPr indent="0" marL="0">
              <a:buNone/>
            </a:pPr>
            <a:r>
              <a:rPr lang="en-US" sz="5400" dirty="0">
                <a:solidFill>
                  <a:schemeClr val="accent1"/>
                </a:solidFill>
                <a:latin typeface="Cambria" pitchFamily="34" charset="0"/>
                <a:ea typeface="Cambria" pitchFamily="34" charset="-122"/>
                <a:cs typeface="Cambria" pitchFamily="34" charset="-120"/>
              </a:rPr>
              <a:t>2</a:t>
            </a:r>
            <a:endParaRPr lang="en-US" sz="5400" dirty="0"/>
          </a:p>
          <a:p>
            <a:pPr indent="0" marL="0">
              <a:spcBef>
                <a:spcPts val="200"/>
              </a:spcBef>
              <a:buNone/>
            </a:pPr>
            <a:r>
              <a:rPr lang="en-US" sz="1400" dirty="0">
                <a:solidFill>
                  <a:schemeClr val="bg2"/>
                </a:solidFill>
              </a:rPr>
              <a:t>neural models checked on real downloaded weights</a:t>
            </a:r>
            <a:endParaRPr lang="en-US" sz="5400" dirty="0"/>
          </a:p>
        </p:txBody>
      </p:sp>
      <p:sp>
        <p:nvSpPr>
          <p:cNvPr id="9" name="Stat rule"/>
          <p:cNvSpPr/>
          <p:nvPr/>
        </p:nvSpPr>
        <p:spPr>
          <a:xfrm>
            <a:off x="6233008" y="1828800"/>
            <a:ext cx="2522144" cy="36576"/>
          </a:xfrm>
          <a:prstGeom prst="rect">
            <a:avLst/>
          </a:prstGeom>
          <a:solidFill>
            <a:schemeClr val="accent1"/>
          </a:solidFill>
          <a:ln/>
        </p:spPr>
      </p:sp>
      <p:sp>
        <p:nvSpPr>
          <p:cNvPr id="10" name="Stat"/>
          <p:cNvSpPr txBox="1"/>
          <p:nvPr/>
        </p:nvSpPr>
        <p:spPr>
          <a:xfrm>
            <a:off x="6233008" y="1965960"/>
            <a:ext cx="2522144" cy="1645920"/>
          </a:xfrm>
          <a:prstGeom prst="rect">
            <a:avLst/>
          </a:prstGeom>
          <a:noFill/>
          <a:ln/>
        </p:spPr>
        <p:txBody>
          <a:bodyPr wrap="square" lIns="0" tIns="0" rIns="0" bIns="0" rtlCol="0" anchor="t"/>
          <a:lstStyle/>
          <a:p>
            <a:pPr indent="0" marL="0">
              <a:buNone/>
            </a:pPr>
            <a:r>
              <a:rPr lang="en-US" sz="5400" dirty="0">
                <a:solidFill>
                  <a:schemeClr val="accent1"/>
                </a:solidFill>
                <a:latin typeface="Cambria" pitchFamily="34" charset="0"/>
                <a:ea typeface="Cambria" pitchFamily="34" charset="-122"/>
                <a:cs typeface="Cambria" pitchFamily="34" charset="-120"/>
              </a:rPr>
              <a:t>5</a:t>
            </a:r>
            <a:endParaRPr lang="en-US" sz="5400" dirty="0"/>
          </a:p>
          <a:p>
            <a:pPr indent="0" marL="0">
              <a:spcBef>
                <a:spcPts val="200"/>
              </a:spcBef>
              <a:buNone/>
            </a:pPr>
            <a:r>
              <a:rPr lang="en-US" sz="1400" dirty="0">
                <a:solidFill>
                  <a:schemeClr val="bg2"/>
                </a:solidFill>
              </a:rPr>
              <a:t>keyless evidence sources checked against live services</a:t>
            </a:r>
            <a:endParaRPr lang="en-US" sz="5400" dirty="0"/>
          </a:p>
        </p:txBody>
      </p:sp>
      <p:sp>
        <p:nvSpPr>
          <p:cNvPr id="11" name="Stat rule"/>
          <p:cNvSpPr/>
          <p:nvPr/>
        </p:nvSpPr>
        <p:spPr>
          <a:xfrm>
            <a:off x="9029471" y="1828800"/>
            <a:ext cx="2522144" cy="36576"/>
          </a:xfrm>
          <a:prstGeom prst="rect">
            <a:avLst/>
          </a:prstGeom>
          <a:solidFill>
            <a:schemeClr val="accent1"/>
          </a:solidFill>
          <a:ln/>
        </p:spPr>
      </p:sp>
      <p:sp>
        <p:nvSpPr>
          <p:cNvPr id="12" name="Stat"/>
          <p:cNvSpPr txBox="1"/>
          <p:nvPr/>
        </p:nvSpPr>
        <p:spPr>
          <a:xfrm>
            <a:off x="9029471" y="1965960"/>
            <a:ext cx="2522144" cy="1645920"/>
          </a:xfrm>
          <a:prstGeom prst="rect">
            <a:avLst/>
          </a:prstGeom>
          <a:noFill/>
          <a:ln/>
        </p:spPr>
        <p:txBody>
          <a:bodyPr wrap="square" lIns="0" tIns="0" rIns="0" bIns="0" rtlCol="0" anchor="t"/>
          <a:lstStyle/>
          <a:p>
            <a:pPr indent="0" marL="0">
              <a:buNone/>
            </a:pPr>
            <a:r>
              <a:rPr lang="en-US" sz="5400" dirty="0">
                <a:solidFill>
                  <a:schemeClr val="accent1"/>
                </a:solidFill>
                <a:latin typeface="Cambria" pitchFamily="34" charset="0"/>
                <a:ea typeface="Cambria" pitchFamily="34" charset="-122"/>
                <a:cs typeface="Cambria" pitchFamily="34" charset="-120"/>
              </a:rPr>
              <a:t>3</a:t>
            </a:r>
            <a:endParaRPr lang="en-US" sz="5400" dirty="0"/>
          </a:p>
          <a:p>
            <a:pPr indent="0" marL="0">
              <a:spcBef>
                <a:spcPts val="200"/>
              </a:spcBef>
              <a:buNone/>
            </a:pPr>
            <a:r>
              <a:rPr lang="en-US" sz="1400" dirty="0">
                <a:solidFill>
                  <a:schemeClr val="bg2"/>
                </a:solidFill>
              </a:rPr>
              <a:t>LLM providers behind one interface, Groq free by default</a:t>
            </a:r>
            <a:endParaRPr lang="en-US" sz="5400" dirty="0"/>
          </a:p>
        </p:txBody>
      </p:sp>
      <p:sp>
        <p:nvSpPr>
          <p:cNvPr id="13" name="Card"/>
          <p:cNvSpPr/>
          <p:nvPr/>
        </p:nvSpPr>
        <p:spPr>
          <a:xfrm>
            <a:off x="640080" y="3931920"/>
            <a:ext cx="3454298" cy="1737360"/>
          </a:xfrm>
          <a:prstGeom prst="roundRect">
            <a:avLst>
              <a:gd name="adj" fmla="val 6316"/>
            </a:avLst>
          </a:prstGeom>
          <a:solidFill>
            <a:schemeClr val="tx2"/>
          </a:solidFill>
          <a:ln w="12700">
            <a:solidFill>
              <a:schemeClr val="accent5"/>
            </a:solidFill>
            <a:prstDash val="solid"/>
          </a:ln>
        </p:spPr>
      </p:sp>
      <p:sp>
        <p:nvSpPr>
          <p:cNvPr id="14" name="Card text"/>
          <p:cNvSpPr txBox="1"/>
          <p:nvPr/>
        </p:nvSpPr>
        <p:spPr>
          <a:xfrm>
            <a:off x="868680" y="4114800"/>
            <a:ext cx="2997098" cy="1371600"/>
          </a:xfrm>
          <a:prstGeom prst="rect">
            <a:avLst/>
          </a:prstGeom>
          <a:noFill/>
          <a:ln/>
        </p:spPr>
        <p:txBody>
          <a:bodyPr wrap="square" lIns="0" tIns="0" rIns="0" bIns="0" rtlCol="0" anchor="t"/>
          <a:lstStyle/>
          <a:p>
            <a:pPr indent="0" marL="0">
              <a:buNone/>
            </a:pPr>
            <a:r>
              <a:rPr lang="en-US" sz="2000" b="1" dirty="0">
                <a:solidFill>
                  <a:schemeClr val="bg1"/>
                </a:solidFill>
              </a:rPr>
              <a:t>Backend</a:t>
            </a:r>
            <a:endParaRPr lang="en-US" sz="2000" dirty="0"/>
          </a:p>
          <a:p>
            <a:pPr indent="0" marL="0">
              <a:spcBef>
                <a:spcPts val="500"/>
              </a:spcBef>
              <a:buNone/>
            </a:pPr>
            <a:r>
              <a:rPr lang="en-US" sz="1600" dirty="0">
                <a:solidFill>
                  <a:schemeClr val="bg2"/>
                </a:solidFill>
              </a:rPr>
              <a:t>Nine-stage pipeline, source adapters, SSRF-safe fetcher, schema-validated LLM layer, SSE progress.</a:t>
            </a:r>
            <a:endParaRPr lang="en-US" sz="2000" dirty="0"/>
          </a:p>
        </p:txBody>
      </p:sp>
      <p:sp>
        <p:nvSpPr>
          <p:cNvPr id="15" name="Card"/>
          <p:cNvSpPr/>
          <p:nvPr/>
        </p:nvSpPr>
        <p:spPr>
          <a:xfrm>
            <a:off x="4368698" y="3931920"/>
            <a:ext cx="3454298" cy="1737360"/>
          </a:xfrm>
          <a:prstGeom prst="roundRect">
            <a:avLst>
              <a:gd name="adj" fmla="val 6316"/>
            </a:avLst>
          </a:prstGeom>
          <a:solidFill>
            <a:schemeClr val="tx2"/>
          </a:solidFill>
          <a:ln w="12700">
            <a:solidFill>
              <a:schemeClr val="accent5"/>
            </a:solidFill>
            <a:prstDash val="solid"/>
          </a:ln>
        </p:spPr>
      </p:sp>
      <p:sp>
        <p:nvSpPr>
          <p:cNvPr id="16" name="Card text"/>
          <p:cNvSpPr txBox="1"/>
          <p:nvPr/>
        </p:nvSpPr>
        <p:spPr>
          <a:xfrm>
            <a:off x="4597298" y="4114800"/>
            <a:ext cx="2997098" cy="1371600"/>
          </a:xfrm>
          <a:prstGeom prst="rect">
            <a:avLst/>
          </a:prstGeom>
          <a:noFill/>
          <a:ln/>
        </p:spPr>
        <p:txBody>
          <a:bodyPr wrap="square" lIns="0" tIns="0" rIns="0" bIns="0" rtlCol="0" anchor="t"/>
          <a:lstStyle/>
          <a:p>
            <a:pPr indent="0" marL="0">
              <a:buNone/>
            </a:pPr>
            <a:r>
              <a:rPr lang="en-US" sz="2000" b="1" dirty="0">
                <a:solidFill>
                  <a:schemeClr val="bg1"/>
                </a:solidFill>
              </a:rPr>
              <a:t>ML service</a:t>
            </a:r>
            <a:endParaRPr lang="en-US" sz="2000" dirty="0"/>
          </a:p>
          <a:p>
            <a:pPr indent="0" marL="0">
              <a:spcBef>
                <a:spcPts val="500"/>
              </a:spcBef>
              <a:buNone/>
            </a:pPr>
            <a:r>
              <a:rPr lang="en-US" sz="1600" dirty="0">
                <a:solidFill>
                  <a:schemeClr val="bg2"/>
                </a:solidFill>
              </a:rPr>
              <a:t>Cross-encoder reranker, DeBERTa NLI, and error-level and noise image forensics.</a:t>
            </a:r>
            <a:endParaRPr lang="en-US" sz="2000" dirty="0"/>
          </a:p>
        </p:txBody>
      </p:sp>
      <p:sp>
        <p:nvSpPr>
          <p:cNvPr id="17" name="Card"/>
          <p:cNvSpPr/>
          <p:nvPr/>
        </p:nvSpPr>
        <p:spPr>
          <a:xfrm>
            <a:off x="8097317" y="3931920"/>
            <a:ext cx="3454298" cy="1737360"/>
          </a:xfrm>
          <a:prstGeom prst="roundRect">
            <a:avLst>
              <a:gd name="adj" fmla="val 6316"/>
            </a:avLst>
          </a:prstGeom>
          <a:solidFill>
            <a:schemeClr val="tx2"/>
          </a:solidFill>
          <a:ln w="12700">
            <a:solidFill>
              <a:schemeClr val="accent5"/>
            </a:solidFill>
            <a:prstDash val="solid"/>
          </a:ln>
        </p:spPr>
      </p:sp>
      <p:sp>
        <p:nvSpPr>
          <p:cNvPr id="18" name="Card text"/>
          <p:cNvSpPr txBox="1"/>
          <p:nvPr/>
        </p:nvSpPr>
        <p:spPr>
          <a:xfrm>
            <a:off x="8325917" y="4114800"/>
            <a:ext cx="2997098" cy="1371600"/>
          </a:xfrm>
          <a:prstGeom prst="rect">
            <a:avLst/>
          </a:prstGeom>
          <a:noFill/>
          <a:ln/>
        </p:spPr>
        <p:txBody>
          <a:bodyPr wrap="square" lIns="0" tIns="0" rIns="0" bIns="0" rtlCol="0" anchor="t"/>
          <a:lstStyle/>
          <a:p>
            <a:pPr indent="0" marL="0">
              <a:buNone/>
            </a:pPr>
            <a:r>
              <a:rPr lang="en-US" sz="2000" b="1" dirty="0">
                <a:solidFill>
                  <a:schemeClr val="bg1"/>
                </a:solidFill>
              </a:rPr>
              <a:t>Eval harness</a:t>
            </a:r>
            <a:endParaRPr lang="en-US" sz="2000" dirty="0"/>
          </a:p>
          <a:p>
            <a:pPr indent="0" marL="0">
              <a:spcBef>
                <a:spcPts val="500"/>
              </a:spcBef>
              <a:buNone/>
            </a:pPr>
            <a:r>
              <a:rPr lang="en-US" sz="1600" dirty="0">
                <a:solidFill>
                  <a:schemeClr val="bg2"/>
                </a:solidFill>
              </a:rPr>
              <a:t>Precision, recall, F1, AUROC and ECE, plus a runner that drives the real pipeline.</a:t>
            </a:r>
            <a:endParaRPr lang="en-US" sz="20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THE INTERFACE</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The reasoning is on screen</a:t>
            </a:r>
            <a:endParaRPr lang="en-US" sz="3600" dirty="0"/>
          </a:p>
        </p:txBody>
      </p:sp>
      <p:sp>
        <p:nvSpPr>
          <p:cNvPr id="5" name="Item marker"/>
          <p:cNvSpPr/>
          <p:nvPr/>
        </p:nvSpPr>
        <p:spPr>
          <a:xfrm>
            <a:off x="640080" y="1828800"/>
            <a:ext cx="45720" cy="685800"/>
          </a:xfrm>
          <a:prstGeom prst="rect">
            <a:avLst/>
          </a:prstGeom>
          <a:solidFill>
            <a:schemeClr val="accent1"/>
          </a:solidFill>
          <a:ln/>
        </p:spPr>
      </p:sp>
      <p:sp>
        <p:nvSpPr>
          <p:cNvPr id="6" name="Interface item"/>
          <p:cNvSpPr txBox="1"/>
          <p:nvPr/>
        </p:nvSpPr>
        <p:spPr>
          <a:xfrm>
            <a:off x="868680" y="1828800"/>
            <a:ext cx="5669280" cy="713232"/>
          </a:xfrm>
          <a:prstGeom prst="rect">
            <a:avLst/>
          </a:prstGeom>
          <a:noFill/>
          <a:ln/>
        </p:spPr>
        <p:txBody>
          <a:bodyPr wrap="square" lIns="0" tIns="0" rIns="0" bIns="0" rtlCol="0" anchor="ctr"/>
          <a:lstStyle/>
          <a:p>
            <a:pPr indent="0" marL="0">
              <a:buNone/>
            </a:pPr>
            <a:r>
              <a:rPr lang="en-US" sz="1800" b="1" dirty="0">
                <a:solidFill>
                  <a:schemeClr val="bg1"/>
                </a:solidFill>
              </a:rPr>
              <a:t>Live investigation</a:t>
            </a:r>
            <a:endParaRPr lang="en-US" sz="1800" dirty="0"/>
          </a:p>
          <a:p>
            <a:pPr indent="0" marL="0">
              <a:spcBef>
                <a:spcPts val="200"/>
              </a:spcBef>
              <a:buNone/>
            </a:pPr>
            <a:r>
              <a:rPr lang="en-US" sz="1400" dirty="0">
                <a:solidFill>
                  <a:schemeClr val="bg2"/>
                </a:solidFill>
              </a:rPr>
              <a:t>Real pipeline events, not timers.</a:t>
            </a:r>
            <a:endParaRPr lang="en-US" sz="1800" dirty="0"/>
          </a:p>
        </p:txBody>
      </p:sp>
      <p:sp>
        <p:nvSpPr>
          <p:cNvPr id="7" name="Item marker"/>
          <p:cNvSpPr/>
          <p:nvPr/>
        </p:nvSpPr>
        <p:spPr>
          <a:xfrm>
            <a:off x="640080" y="2697480"/>
            <a:ext cx="45720" cy="685800"/>
          </a:xfrm>
          <a:prstGeom prst="rect">
            <a:avLst/>
          </a:prstGeom>
          <a:solidFill>
            <a:schemeClr val="accent1"/>
          </a:solidFill>
          <a:ln/>
        </p:spPr>
      </p:sp>
      <p:sp>
        <p:nvSpPr>
          <p:cNvPr id="8" name="Interface item"/>
          <p:cNvSpPr txBox="1"/>
          <p:nvPr/>
        </p:nvSpPr>
        <p:spPr>
          <a:xfrm>
            <a:off x="868680" y="2697480"/>
            <a:ext cx="5669280" cy="713232"/>
          </a:xfrm>
          <a:prstGeom prst="rect">
            <a:avLst/>
          </a:prstGeom>
          <a:noFill/>
          <a:ln/>
        </p:spPr>
        <p:txBody>
          <a:bodyPr wrap="square" lIns="0" tIns="0" rIns="0" bIns="0" rtlCol="0" anchor="ctr"/>
          <a:lstStyle/>
          <a:p>
            <a:pPr indent="0" marL="0">
              <a:buNone/>
            </a:pPr>
            <a:r>
              <a:rPr lang="en-US" sz="1800" b="1" dirty="0">
                <a:solidFill>
                  <a:schemeClr val="bg1"/>
                </a:solidFill>
              </a:rPr>
              <a:t>Evidence Board</a:t>
            </a:r>
            <a:endParaRPr lang="en-US" sz="1800" dirty="0"/>
          </a:p>
          <a:p>
            <a:pPr indent="0" marL="0">
              <a:spcBef>
                <a:spcPts val="200"/>
              </a:spcBef>
              <a:buNone/>
            </a:pPr>
            <a:r>
              <a:rPr lang="en-US" sz="1400" dirty="0">
                <a:solidFill>
                  <a:schemeClr val="bg2"/>
                </a:solidFill>
              </a:rPr>
              <a:t>Stance by shape, size by credibility, exact excerpt on hover.</a:t>
            </a:r>
            <a:endParaRPr lang="en-US" sz="1800" dirty="0"/>
          </a:p>
        </p:txBody>
      </p:sp>
      <p:sp>
        <p:nvSpPr>
          <p:cNvPr id="9" name="Item marker"/>
          <p:cNvSpPr/>
          <p:nvPr/>
        </p:nvSpPr>
        <p:spPr>
          <a:xfrm>
            <a:off x="640080" y="3566160"/>
            <a:ext cx="45720" cy="685800"/>
          </a:xfrm>
          <a:prstGeom prst="rect">
            <a:avLst/>
          </a:prstGeom>
          <a:solidFill>
            <a:schemeClr val="accent1"/>
          </a:solidFill>
          <a:ln/>
        </p:spPr>
      </p:sp>
      <p:sp>
        <p:nvSpPr>
          <p:cNvPr id="10" name="Interface item"/>
          <p:cNvSpPr txBox="1"/>
          <p:nvPr/>
        </p:nvSpPr>
        <p:spPr>
          <a:xfrm>
            <a:off x="868680" y="3566160"/>
            <a:ext cx="5669280" cy="713232"/>
          </a:xfrm>
          <a:prstGeom prst="rect">
            <a:avLst/>
          </a:prstGeom>
          <a:noFill/>
          <a:ln/>
        </p:spPr>
        <p:txBody>
          <a:bodyPr wrap="square" lIns="0" tIns="0" rIns="0" bIns="0" rtlCol="0" anchor="ctr"/>
          <a:lstStyle/>
          <a:p>
            <a:pPr indent="0" marL="0">
              <a:buNone/>
            </a:pPr>
            <a:r>
              <a:rPr lang="en-US" sz="1800" b="1" dirty="0">
                <a:solidFill>
                  <a:schemeClr val="bg1"/>
                </a:solidFill>
              </a:rPr>
              <a:t>Verdict card</a:t>
            </a:r>
            <a:endParaRPr lang="en-US" sz="1800" dirty="0"/>
          </a:p>
          <a:p>
            <a:pPr indent="0" marL="0">
              <a:spcBef>
                <a:spcPts val="200"/>
              </a:spcBef>
              <a:buNone/>
            </a:pPr>
            <a:r>
              <a:rPr lang="en-US" sz="1400" dirty="0">
                <a:solidFill>
                  <a:schemeClr val="bg2"/>
                </a:solidFill>
              </a:rPr>
              <a:t>Evidence strength, plus what we could not verify.</a:t>
            </a:r>
            <a:endParaRPr lang="en-US" sz="1800" dirty="0"/>
          </a:p>
        </p:txBody>
      </p:sp>
      <p:sp>
        <p:nvSpPr>
          <p:cNvPr id="11" name="Item marker"/>
          <p:cNvSpPr/>
          <p:nvPr/>
        </p:nvSpPr>
        <p:spPr>
          <a:xfrm>
            <a:off x="640080" y="4434840"/>
            <a:ext cx="45720" cy="685800"/>
          </a:xfrm>
          <a:prstGeom prst="rect">
            <a:avLst/>
          </a:prstGeom>
          <a:solidFill>
            <a:schemeClr val="accent1"/>
          </a:solidFill>
          <a:ln/>
        </p:spPr>
      </p:sp>
      <p:sp>
        <p:nvSpPr>
          <p:cNvPr id="12" name="Interface item"/>
          <p:cNvSpPr txBox="1"/>
          <p:nvPr/>
        </p:nvSpPr>
        <p:spPr>
          <a:xfrm>
            <a:off x="868680" y="4434840"/>
            <a:ext cx="5669280" cy="713232"/>
          </a:xfrm>
          <a:prstGeom prst="rect">
            <a:avLst/>
          </a:prstGeom>
          <a:noFill/>
          <a:ln/>
        </p:spPr>
        <p:txBody>
          <a:bodyPr wrap="square" lIns="0" tIns="0" rIns="0" bIns="0" rtlCol="0" anchor="ctr"/>
          <a:lstStyle/>
          <a:p>
            <a:pPr indent="0" marL="0">
              <a:buNone/>
            </a:pPr>
            <a:r>
              <a:rPr lang="en-US" sz="1800" b="1" dirty="0">
                <a:solidFill>
                  <a:schemeClr val="bg1"/>
                </a:solidFill>
              </a:rPr>
              <a:t>Show the reasoning</a:t>
            </a:r>
            <a:endParaRPr lang="en-US" sz="1800" dirty="0"/>
          </a:p>
          <a:p>
            <a:pPr indent="0" marL="0">
              <a:spcBef>
                <a:spcPts val="200"/>
              </a:spcBef>
              <a:buNone/>
            </a:pPr>
            <a:r>
              <a:rPr lang="en-US" sz="1400" dirty="0">
                <a:solidFill>
                  <a:schemeClr val="bg2"/>
                </a:solidFill>
              </a:rPr>
              <a:t>Queries run and sources discarded, with reasons.</a:t>
            </a:r>
            <a:endParaRPr lang="en-US" sz="1800" dirty="0"/>
          </a:p>
        </p:txBody>
      </p:sp>
      <p:sp>
        <p:nvSpPr>
          <p:cNvPr id="13" name="Item marker"/>
          <p:cNvSpPr/>
          <p:nvPr/>
        </p:nvSpPr>
        <p:spPr>
          <a:xfrm>
            <a:off x="640080" y="5303520"/>
            <a:ext cx="45720" cy="685800"/>
          </a:xfrm>
          <a:prstGeom prst="rect">
            <a:avLst/>
          </a:prstGeom>
          <a:solidFill>
            <a:schemeClr val="accent1"/>
          </a:solidFill>
          <a:ln/>
        </p:spPr>
      </p:sp>
      <p:sp>
        <p:nvSpPr>
          <p:cNvPr id="14" name="Interface item"/>
          <p:cNvSpPr txBox="1"/>
          <p:nvPr/>
        </p:nvSpPr>
        <p:spPr>
          <a:xfrm>
            <a:off x="868680" y="5303520"/>
            <a:ext cx="5669280" cy="713232"/>
          </a:xfrm>
          <a:prstGeom prst="rect">
            <a:avLst/>
          </a:prstGeom>
          <a:noFill/>
          <a:ln/>
        </p:spPr>
        <p:txBody>
          <a:bodyPr wrap="square" lIns="0" tIns="0" rIns="0" bIns="0" rtlCol="0" anchor="ctr"/>
          <a:lstStyle/>
          <a:p>
            <a:pPr indent="0" marL="0">
              <a:buNone/>
            </a:pPr>
            <a:r>
              <a:rPr lang="en-US" sz="1800" b="1" dirty="0">
                <a:solidFill>
                  <a:schemeClr val="bg1"/>
                </a:solidFill>
              </a:rPr>
              <a:t>Model toggle</a:t>
            </a:r>
            <a:endParaRPr lang="en-US" sz="1800" dirty="0"/>
          </a:p>
          <a:p>
            <a:pPr indent="0" marL="0">
              <a:spcBef>
                <a:spcPts val="200"/>
              </a:spcBef>
              <a:buNone/>
            </a:pPr>
            <a:r>
              <a:rPr lang="en-US" sz="1400" dirty="0">
                <a:solidFill>
                  <a:schemeClr val="bg2"/>
                </a:solidFill>
              </a:rPr>
              <a:t>Free Groq, or paid Anthropic and OpenAI.</a:t>
            </a:r>
            <a:endParaRPr lang="en-US" sz="1800" dirty="0"/>
          </a:p>
        </p:txBody>
      </p:sp>
      <p:sp>
        <p:nvSpPr>
          <p:cNvPr id="15" name="Orbit"/>
          <p:cNvSpPr/>
          <p:nvPr/>
        </p:nvSpPr>
        <p:spPr>
          <a:xfrm>
            <a:off x="8412480" y="3063240"/>
            <a:ext cx="1828800" cy="1828800"/>
          </a:xfrm>
          <a:prstGeom prst="ellipse">
            <a:avLst/>
          </a:prstGeom>
          <a:ln w="12700">
            <a:solidFill>
              <a:schemeClr val="accent5"/>
            </a:solidFill>
            <a:prstDash val="dash"/>
          </a:ln>
        </p:spPr>
      </p:sp>
      <p:sp>
        <p:nvSpPr>
          <p:cNvPr id="16" name="Orbit"/>
          <p:cNvSpPr/>
          <p:nvPr/>
        </p:nvSpPr>
        <p:spPr>
          <a:xfrm>
            <a:off x="7360920" y="2011680"/>
            <a:ext cx="3931920" cy="3931920"/>
          </a:xfrm>
          <a:prstGeom prst="ellipse">
            <a:avLst/>
          </a:prstGeom>
          <a:ln w="12700">
            <a:solidFill>
              <a:schemeClr val="accent5"/>
            </a:solidFill>
            <a:prstDash val="dash"/>
          </a:ln>
        </p:spPr>
      </p:sp>
      <p:sp>
        <p:nvSpPr>
          <p:cNvPr id="17" name="Link"/>
          <p:cNvSpPr/>
          <p:nvPr/>
        </p:nvSpPr>
        <p:spPr>
          <a:xfrm>
            <a:off x="9326880" y="2011680"/>
            <a:ext cx="0" cy="1965960"/>
          </a:xfrm>
          <a:prstGeom prst="line">
            <a:avLst/>
          </a:prstGeom>
          <a:noFill/>
          <a:ln w="15875">
            <a:solidFill>
              <a:schemeClr val="accent2"/>
            </a:solidFill>
            <a:prstDash val="solid"/>
          </a:ln>
        </p:spPr>
      </p:sp>
      <p:sp>
        <p:nvSpPr>
          <p:cNvPr id="18" name="Link"/>
          <p:cNvSpPr/>
          <p:nvPr/>
        </p:nvSpPr>
        <p:spPr>
          <a:xfrm flipV="1">
            <a:off x="9326880" y="2971800"/>
            <a:ext cx="1691640" cy="1005840"/>
          </a:xfrm>
          <a:prstGeom prst="line">
            <a:avLst/>
          </a:prstGeom>
          <a:noFill/>
          <a:ln w="15875">
            <a:solidFill>
              <a:schemeClr val="accent2"/>
            </a:solidFill>
            <a:prstDash val="solid"/>
          </a:ln>
        </p:spPr>
      </p:sp>
      <p:sp>
        <p:nvSpPr>
          <p:cNvPr id="19" name="Link"/>
          <p:cNvSpPr/>
          <p:nvPr/>
        </p:nvSpPr>
        <p:spPr>
          <a:xfrm>
            <a:off x="9326880" y="3977640"/>
            <a:ext cx="1737360" cy="914400"/>
          </a:xfrm>
          <a:prstGeom prst="line">
            <a:avLst/>
          </a:prstGeom>
          <a:noFill/>
          <a:ln w="15875">
            <a:solidFill>
              <a:schemeClr val="accent3"/>
            </a:solidFill>
            <a:prstDash val="solid"/>
          </a:ln>
        </p:spPr>
      </p:sp>
      <p:sp>
        <p:nvSpPr>
          <p:cNvPr id="20" name="Link"/>
          <p:cNvSpPr/>
          <p:nvPr/>
        </p:nvSpPr>
        <p:spPr>
          <a:xfrm>
            <a:off x="9326880" y="3977640"/>
            <a:ext cx="0" cy="1965960"/>
          </a:xfrm>
          <a:prstGeom prst="line">
            <a:avLst/>
          </a:prstGeom>
          <a:noFill/>
          <a:ln w="15875">
            <a:solidFill>
              <a:schemeClr val="accent3"/>
            </a:solidFill>
            <a:prstDash val="solid"/>
          </a:ln>
        </p:spPr>
      </p:sp>
      <p:sp>
        <p:nvSpPr>
          <p:cNvPr id="21" name="Link"/>
          <p:cNvSpPr/>
          <p:nvPr/>
        </p:nvSpPr>
        <p:spPr>
          <a:xfrm flipV="1">
            <a:off x="7635240" y="3977640"/>
            <a:ext cx="1691640" cy="1005840"/>
          </a:xfrm>
          <a:prstGeom prst="line">
            <a:avLst/>
          </a:prstGeom>
          <a:noFill/>
          <a:ln w="15875">
            <a:solidFill>
              <a:schemeClr val="accent2"/>
            </a:solidFill>
            <a:prstDash val="solid"/>
          </a:ln>
        </p:spPr>
      </p:sp>
      <p:sp>
        <p:nvSpPr>
          <p:cNvPr id="22" name="Link"/>
          <p:cNvSpPr/>
          <p:nvPr/>
        </p:nvSpPr>
        <p:spPr>
          <a:xfrm>
            <a:off x="7589520" y="3017520"/>
            <a:ext cx="1737360" cy="960120"/>
          </a:xfrm>
          <a:prstGeom prst="line">
            <a:avLst/>
          </a:prstGeom>
          <a:noFill/>
          <a:ln w="15875">
            <a:solidFill>
              <a:schemeClr val="bg2"/>
            </a:solidFill>
            <a:prstDash val="solid"/>
          </a:ln>
        </p:spPr>
      </p:sp>
      <p:sp>
        <p:nvSpPr>
          <p:cNvPr id="23" name="Claim node"/>
          <p:cNvSpPr/>
          <p:nvPr/>
        </p:nvSpPr>
        <p:spPr>
          <a:xfrm>
            <a:off x="8869680" y="3520440"/>
            <a:ext cx="914400" cy="914400"/>
          </a:xfrm>
          <a:prstGeom prst="ellipse">
            <a:avLst/>
          </a:prstGeom>
          <a:solidFill>
            <a:schemeClr val="tx2"/>
          </a:solidFill>
          <a:ln w="31750">
            <a:solidFill>
              <a:schemeClr val="accent1"/>
            </a:solidFill>
            <a:prstDash val="solid"/>
          </a:ln>
        </p:spPr>
      </p:sp>
      <p:sp>
        <p:nvSpPr>
          <p:cNvPr id="24" name="Claim label"/>
          <p:cNvSpPr txBox="1"/>
          <p:nvPr/>
        </p:nvSpPr>
        <p:spPr>
          <a:xfrm>
            <a:off x="8869680" y="3520440"/>
            <a:ext cx="914400" cy="914400"/>
          </a:xfrm>
          <a:prstGeom prst="rect">
            <a:avLst/>
          </a:prstGeom>
          <a:noFill/>
          <a:ln/>
        </p:spPr>
        <p:txBody>
          <a:bodyPr wrap="square" lIns="0" tIns="0" rIns="0" bIns="0" rtlCol="0" anchor="ctr"/>
          <a:lstStyle/>
          <a:p>
            <a:pPr algn="ctr" indent="0" marL="0">
              <a:buNone/>
            </a:pPr>
            <a:r>
              <a:rPr lang="en-US" sz="1100" spc="200" kern="0" dirty="0">
                <a:solidFill>
                  <a:schemeClr val="accent1"/>
                </a:solidFill>
                <a:latin typeface="Courier New" pitchFamily="34" charset="0"/>
                <a:ea typeface="Courier New" pitchFamily="34" charset="-122"/>
                <a:cs typeface="Courier New" pitchFamily="34" charset="-120"/>
              </a:rPr>
              <a:t>CLAIM</a:t>
            </a:r>
            <a:endParaRPr lang="en-US" sz="1100" dirty="0"/>
          </a:p>
        </p:txBody>
      </p:sp>
      <p:sp>
        <p:nvSpPr>
          <p:cNvPr id="25" name="Supporting source"/>
          <p:cNvSpPr/>
          <p:nvPr/>
        </p:nvSpPr>
        <p:spPr>
          <a:xfrm>
            <a:off x="9052560" y="1737360"/>
            <a:ext cx="548640" cy="548640"/>
          </a:xfrm>
          <a:prstGeom prst="ellipse">
            <a:avLst/>
          </a:prstGeom>
          <a:solidFill>
            <a:schemeClr val="accent2">
              <a:alpha val="30000"/>
            </a:schemeClr>
          </a:solidFill>
          <a:ln w="25400">
            <a:solidFill>
              <a:schemeClr val="accent2"/>
            </a:solidFill>
            <a:prstDash val="solid"/>
          </a:ln>
        </p:spPr>
      </p:sp>
      <p:sp>
        <p:nvSpPr>
          <p:cNvPr id="26" name="Plus mark"/>
          <p:cNvSpPr txBox="1"/>
          <p:nvPr/>
        </p:nvSpPr>
        <p:spPr>
          <a:xfrm>
            <a:off x="9052560" y="1737360"/>
            <a:ext cx="548640" cy="54864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7" name="Supporting source"/>
          <p:cNvSpPr/>
          <p:nvPr/>
        </p:nvSpPr>
        <p:spPr>
          <a:xfrm>
            <a:off x="10789920" y="2743200"/>
            <a:ext cx="457200" cy="457200"/>
          </a:xfrm>
          <a:prstGeom prst="ellipse">
            <a:avLst/>
          </a:prstGeom>
          <a:solidFill>
            <a:schemeClr val="accent2">
              <a:alpha val="30000"/>
            </a:schemeClr>
          </a:solidFill>
          <a:ln w="25400">
            <a:solidFill>
              <a:schemeClr val="accent2"/>
            </a:solidFill>
            <a:prstDash val="solid"/>
          </a:ln>
        </p:spPr>
      </p:sp>
      <p:sp>
        <p:nvSpPr>
          <p:cNvPr id="28" name="Plus mark"/>
          <p:cNvSpPr txBox="1"/>
          <p:nvPr/>
        </p:nvSpPr>
        <p:spPr>
          <a:xfrm>
            <a:off x="10789920" y="2743200"/>
            <a:ext cx="457200" cy="457200"/>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29" name="Refuting source"/>
          <p:cNvSpPr/>
          <p:nvPr/>
        </p:nvSpPr>
        <p:spPr>
          <a:xfrm>
            <a:off x="10808208" y="4636008"/>
            <a:ext cx="512064" cy="512064"/>
          </a:xfrm>
          <a:prstGeom prst="diamond">
            <a:avLst/>
          </a:prstGeom>
          <a:solidFill>
            <a:schemeClr val="accent3">
              <a:alpha val="30000"/>
            </a:schemeClr>
          </a:solidFill>
          <a:ln w="25400">
            <a:solidFill>
              <a:schemeClr val="accent3"/>
            </a:solidFill>
            <a:prstDash val="solid"/>
          </a:ln>
        </p:spPr>
      </p:sp>
      <p:sp>
        <p:nvSpPr>
          <p:cNvPr id="30" name="Minus mark"/>
          <p:cNvSpPr txBox="1"/>
          <p:nvPr/>
        </p:nvSpPr>
        <p:spPr>
          <a:xfrm>
            <a:off x="10808208" y="4636008"/>
            <a:ext cx="512064" cy="512064"/>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31" name="Refuting source"/>
          <p:cNvSpPr/>
          <p:nvPr/>
        </p:nvSpPr>
        <p:spPr>
          <a:xfrm>
            <a:off x="9070848" y="5687568"/>
            <a:ext cx="512064" cy="512064"/>
          </a:xfrm>
          <a:prstGeom prst="diamond">
            <a:avLst/>
          </a:prstGeom>
          <a:solidFill>
            <a:schemeClr val="accent3">
              <a:alpha val="30000"/>
            </a:schemeClr>
          </a:solidFill>
          <a:ln w="25400">
            <a:solidFill>
              <a:schemeClr val="accent3"/>
            </a:solidFill>
            <a:prstDash val="solid"/>
          </a:ln>
        </p:spPr>
      </p:sp>
      <p:sp>
        <p:nvSpPr>
          <p:cNvPr id="32" name="Minus mark"/>
          <p:cNvSpPr txBox="1"/>
          <p:nvPr/>
        </p:nvSpPr>
        <p:spPr>
          <a:xfrm>
            <a:off x="9070848" y="5687568"/>
            <a:ext cx="512064" cy="512064"/>
          </a:xfrm>
          <a:prstGeom prst="rect">
            <a:avLst/>
          </a:prstGeom>
          <a:noFill/>
          <a:ln/>
        </p:spPr>
        <p:txBody>
          <a:bodyPr wrap="square" lIns="0" tIns="0" rIns="0" bIns="0" rtlCol="0" anchor="ctr"/>
          <a:lstStyle/>
          <a:p>
            <a:pPr algn="ctr" indent="0" marL="0">
              <a:buNone/>
            </a:pPr>
            <a:r>
              <a:rPr lang="en-US" sz="1800" b="1" dirty="0">
                <a:solidFill>
                  <a:schemeClr val="accent3"/>
                </a:solidFill>
              </a:rPr>
              <a:t>−</a:t>
            </a:r>
            <a:endParaRPr lang="en-US" sz="1800" dirty="0"/>
          </a:p>
        </p:txBody>
      </p:sp>
      <p:sp>
        <p:nvSpPr>
          <p:cNvPr id="33" name="Supporting source"/>
          <p:cNvSpPr/>
          <p:nvPr/>
        </p:nvSpPr>
        <p:spPr>
          <a:xfrm>
            <a:off x="7388352" y="4736592"/>
            <a:ext cx="493776" cy="493776"/>
          </a:xfrm>
          <a:prstGeom prst="ellipse">
            <a:avLst/>
          </a:prstGeom>
          <a:solidFill>
            <a:schemeClr val="accent2">
              <a:alpha val="30000"/>
            </a:schemeClr>
          </a:solidFill>
          <a:ln w="25400">
            <a:solidFill>
              <a:schemeClr val="accent2"/>
            </a:solidFill>
            <a:prstDash val="solid"/>
          </a:ln>
        </p:spPr>
      </p:sp>
      <p:sp>
        <p:nvSpPr>
          <p:cNvPr id="34" name="Plus mark"/>
          <p:cNvSpPr txBox="1"/>
          <p:nvPr/>
        </p:nvSpPr>
        <p:spPr>
          <a:xfrm>
            <a:off x="7388352" y="4736592"/>
            <a:ext cx="493776" cy="493776"/>
          </a:xfrm>
          <a:prstGeom prst="rect">
            <a:avLst/>
          </a:prstGeom>
          <a:noFill/>
          <a:ln/>
        </p:spPr>
        <p:txBody>
          <a:bodyPr wrap="square" lIns="0" tIns="0" rIns="0" bIns="0" rtlCol="0" anchor="ctr"/>
          <a:lstStyle/>
          <a:p>
            <a:pPr algn="ctr" indent="0" marL="0">
              <a:buNone/>
            </a:pPr>
            <a:r>
              <a:rPr lang="en-US" sz="1800" b="1" dirty="0">
                <a:solidFill>
                  <a:schemeClr val="accent2"/>
                </a:solidFill>
              </a:rPr>
              <a:t>+</a:t>
            </a:r>
            <a:endParaRPr lang="en-US" sz="1800" dirty="0"/>
          </a:p>
        </p:txBody>
      </p:sp>
      <p:sp>
        <p:nvSpPr>
          <p:cNvPr id="35" name="Neutral source"/>
          <p:cNvSpPr/>
          <p:nvPr/>
        </p:nvSpPr>
        <p:spPr>
          <a:xfrm>
            <a:off x="7388352" y="2816352"/>
            <a:ext cx="402336" cy="402336"/>
          </a:xfrm>
          <a:prstGeom prst="ellipse">
            <a:avLst/>
          </a:prstGeom>
          <a:ln w="19050">
            <a:solidFill>
              <a:schemeClr val="bg2"/>
            </a:solidFill>
            <a:prstDash val="dash"/>
          </a:ln>
        </p:spPr>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DESIGN DECISIONS</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Choices and their costs</a:t>
            </a:r>
            <a:endParaRPr lang="en-US" sz="3600" dirty="0"/>
          </a:p>
        </p:txBody>
      </p:sp>
      <p:graphicFrame>
        <p:nvGraphicFramePr>
          <p:cNvPr id="11" name="Decisions table"/>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3657600"/>
                <a:gridCol w="3749040"/>
                <a:gridCol w="3502152"/>
              </a:tblGrid>
              <a:tr h="566928">
                <a:tc>
                  <a:txBody>
                    <a:bodyPr/>
                    <a:lstStyle/>
                    <a:p>
                      <a:pPr indent="0" marL="0">
                        <a:buNone/>
                      </a:pPr>
                      <a:r>
                        <a:rPr lang="en-US" sz="1600" b="1" dirty="0">
                          <a:solidFill>
                            <a:schemeClr val="accent1"/>
                          </a:solidFill>
                        </a:rPr>
                        <a:t>Decision</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600" b="1" dirty="0">
                          <a:solidFill>
                            <a:schemeClr val="accent1"/>
                          </a:solidFill>
                        </a:rPr>
                        <a:t>Why</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600" b="1" dirty="0">
                          <a:solidFill>
                            <a:schemeClr val="accent1"/>
                          </a:solidFill>
                        </a:rPr>
                        <a:t>Cost</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r>
              <a:tr h="566928">
                <a:tc>
                  <a:txBody>
                    <a:bodyPr/>
                    <a:lstStyle/>
                    <a:p>
                      <a:pPr indent="0" marL="0">
                        <a:buNone/>
                      </a:pPr>
                      <a:r>
                        <a:rPr lang="en-US" sz="1600" dirty="0">
                          <a:solidFill>
                            <a:schemeClr val="bg1"/>
                          </a:solidFill>
                        </a:rPr>
                        <a:t>Rules decide the verdict</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Inspectable and unit-testable</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Less flexible than an LLM judge</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566928">
                <a:tc>
                  <a:txBody>
                    <a:bodyPr/>
                    <a:lstStyle/>
                    <a:p>
                      <a:pPr indent="0" marL="0">
                        <a:buNone/>
                      </a:pPr>
                      <a:r>
                        <a:rPr lang="en-US" sz="1600" dirty="0">
                          <a:solidFill>
                            <a:schemeClr val="bg1"/>
                          </a:solidFill>
                        </a:rPr>
                        <a:t>Free-first stack: Groq and keyless sources</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Reproducible with no budget</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Rate limits; unofficial search endpoint</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566928">
                <a:tc>
                  <a:txBody>
                    <a:bodyPr/>
                    <a:lstStyle/>
                    <a:p>
                      <a:pPr indent="0" marL="0">
                        <a:buNone/>
                      </a:pPr>
                      <a:r>
                        <a:rPr lang="en-US" sz="1600" dirty="0">
                          <a:solidFill>
                            <a:schemeClr val="bg1"/>
                          </a:solidFill>
                        </a:rPr>
                        <a:t>Separate ML service</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Heavy dependencies stay out of the API</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An extra container; BM25 fallback</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566928">
                <a:tc>
                  <a:txBody>
                    <a:bodyPr/>
                    <a:lstStyle/>
                    <a:p>
                      <a:pPr indent="0" marL="0">
                        <a:buNone/>
                      </a:pPr>
                      <a:r>
                        <a:rPr lang="en-US" sz="1600" dirty="0">
                          <a:solidFill>
                            <a:schemeClr val="bg1"/>
                          </a:solidFill>
                        </a:rPr>
                        <a:t>Verbatim-quote check</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Blocks invented justifications</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600" dirty="0">
                          <a:solidFill>
                            <a:schemeClr val="bg1"/>
                          </a:solidFill>
                        </a:rPr>
                        <a:t>Cannot catch a real quote misread</a:t>
                      </a:r>
                      <a:endParaRPr lang="en-US" sz="16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bl>
          </a:graphicData>
        </a:graphic>
      </p:graphicFrame>
      <p:sp>
        <p:nvSpPr>
          <p:cNvPr id="6" name="Bug note"/>
          <p:cNvSpPr txBox="1"/>
          <p:nvPr/>
        </p:nvSpPr>
        <p:spPr>
          <a:xfrm>
            <a:off x="640080" y="5120640"/>
            <a:ext cx="10332720" cy="822960"/>
          </a:xfrm>
          <a:prstGeom prst="rect">
            <a:avLst/>
          </a:prstGeom>
          <a:noFill/>
          <a:ln/>
        </p:spPr>
        <p:txBody>
          <a:bodyPr wrap="square" lIns="0" tIns="0" rIns="0" bIns="0" rtlCol="0" anchor="t"/>
          <a:lstStyle/>
          <a:p>
            <a:pPr indent="0" marL="0">
              <a:buNone/>
            </a:pPr>
            <a:r>
              <a:rPr lang="en-US" sz="1600" dirty="0">
                <a:solidFill>
                  <a:schemeClr val="bg2"/>
                </a:solidFill>
              </a:rPr>
              <a:t>One bug found along the way: the standard BM25 variant gave zero scores on small candidate pools, so ranking was silently dead until a test exposed it.</a:t>
            </a:r>
            <a:endParaRPr lang="en-US" sz="16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EVALUATION</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What we can and cannot claim</a:t>
            </a:r>
            <a:endParaRPr lang="en-US" sz="3600" dirty="0"/>
          </a:p>
        </p:txBody>
      </p:sp>
      <p:sp>
        <p:nvSpPr>
          <p:cNvPr id="5" name="Card"/>
          <p:cNvSpPr/>
          <p:nvPr/>
        </p:nvSpPr>
        <p:spPr>
          <a:xfrm>
            <a:off x="640080" y="1828800"/>
            <a:ext cx="5318608" cy="2651760"/>
          </a:xfrm>
          <a:prstGeom prst="roundRect">
            <a:avLst>
              <a:gd name="adj" fmla="val 4138"/>
            </a:avLst>
          </a:prstGeom>
          <a:solidFill>
            <a:schemeClr val="tx2"/>
          </a:solidFill>
          <a:ln w="12700">
            <a:solidFill>
              <a:schemeClr val="accent5"/>
            </a:solidFill>
            <a:prstDash val="solid"/>
          </a:ln>
        </p:spPr>
      </p:sp>
      <p:sp>
        <p:nvSpPr>
          <p:cNvPr id="6" name="Ready list"/>
          <p:cNvSpPr txBox="1"/>
          <p:nvPr/>
        </p:nvSpPr>
        <p:spPr>
          <a:xfrm>
            <a:off x="914400" y="2011680"/>
            <a:ext cx="4769968" cy="2286000"/>
          </a:xfrm>
          <a:prstGeom prst="rect">
            <a:avLst/>
          </a:prstGeom>
          <a:noFill/>
          <a:ln/>
        </p:spPr>
        <p:txBody>
          <a:bodyPr wrap="square" lIns="0" tIns="0" rIns="0" bIns="0" rtlCol="0" anchor="t"/>
          <a:lstStyle/>
          <a:p>
            <a:pPr indent="0" marL="0">
              <a:spcAft>
                <a:spcPts val="800"/>
              </a:spcAft>
              <a:buNone/>
            </a:pPr>
            <a:r>
              <a:rPr lang="en-US" sz="2200" b="1" dirty="0">
                <a:solidFill>
                  <a:schemeClr val="accent2"/>
                </a:solidFill>
              </a:rPr>
              <a:t>Ready</a:t>
            </a:r>
            <a:endParaRPr lang="en-US" sz="2200" dirty="0"/>
          </a:p>
          <a:p>
            <a:pPr marL="342900" indent="-342900">
              <a:spcAft>
                <a:spcPts val="600"/>
              </a:spcAft>
              <a:buSzPct val="100000"/>
              <a:buChar char="•"/>
            </a:pPr>
            <a:r>
              <a:rPr lang="en-US" sz="1600" dirty="0">
                <a:solidFill>
                  <a:schemeClr val="bg1"/>
                </a:solidFill>
              </a:rPr>
              <a:t>Precision, recall, macro-F1 and AUROC</a:t>
            </a:r>
            <a:endParaRPr lang="en-US" sz="2200" dirty="0"/>
          </a:p>
          <a:p>
            <a:pPr marL="342900" indent="-342900">
              <a:spcAft>
                <a:spcPts val="600"/>
              </a:spcAft>
              <a:buSzPct val="100000"/>
              <a:buChar char="•"/>
            </a:pPr>
            <a:r>
              <a:rPr lang="en-US" sz="1600" dirty="0">
                <a:solidFill>
                  <a:schemeClr val="bg1"/>
                </a:solidFill>
              </a:rPr>
              <a:t>Calibration: ECE and reliability bins</a:t>
            </a:r>
            <a:endParaRPr lang="en-US" sz="2200" dirty="0"/>
          </a:p>
          <a:p>
            <a:pPr marL="342900" indent="-342900">
              <a:spcAft>
                <a:spcPts val="600"/>
              </a:spcAft>
              <a:buSzPct val="100000"/>
              <a:buChar char="•"/>
            </a:pPr>
            <a:r>
              <a:rPr lang="en-US" sz="1600" dirty="0">
                <a:solidFill>
                  <a:schemeClr val="bg1"/>
                </a:solidFill>
              </a:rPr>
              <a:t>Runner that sends labelled claims through the real pipeline</a:t>
            </a:r>
            <a:endParaRPr lang="en-US" sz="2200" dirty="0"/>
          </a:p>
          <a:p>
            <a:pPr marL="342900" indent="-342900">
              <a:spcAft>
                <a:spcPts val="600"/>
              </a:spcAft>
              <a:buSzPct val="100000"/>
              <a:buChar char="•"/>
            </a:pPr>
            <a:r>
              <a:rPr lang="en-US" sz="1600" dirty="0">
                <a:solidFill>
                  <a:schemeClr val="bg1"/>
                </a:solidFill>
              </a:rPr>
              <a:t>"No verdict" counted as its own class</a:t>
            </a:r>
            <a:endParaRPr lang="en-US" sz="2200" dirty="0"/>
          </a:p>
        </p:txBody>
      </p:sp>
      <p:sp>
        <p:nvSpPr>
          <p:cNvPr id="7" name="Card"/>
          <p:cNvSpPr/>
          <p:nvPr/>
        </p:nvSpPr>
        <p:spPr>
          <a:xfrm>
            <a:off x="6233008" y="1828800"/>
            <a:ext cx="5318608" cy="2651760"/>
          </a:xfrm>
          <a:prstGeom prst="roundRect">
            <a:avLst>
              <a:gd name="adj" fmla="val 4138"/>
            </a:avLst>
          </a:prstGeom>
          <a:solidFill>
            <a:schemeClr val="tx2"/>
          </a:solidFill>
          <a:ln w="12700">
            <a:solidFill>
              <a:schemeClr val="accent5"/>
            </a:solidFill>
            <a:prstDash val="solid"/>
          </a:ln>
        </p:spPr>
      </p:sp>
      <p:sp>
        <p:nvSpPr>
          <p:cNvPr id="8" name="Not yet done list"/>
          <p:cNvSpPr txBox="1"/>
          <p:nvPr/>
        </p:nvSpPr>
        <p:spPr>
          <a:xfrm>
            <a:off x="6507328" y="2011680"/>
            <a:ext cx="4769968" cy="2286000"/>
          </a:xfrm>
          <a:prstGeom prst="rect">
            <a:avLst/>
          </a:prstGeom>
          <a:noFill/>
          <a:ln/>
        </p:spPr>
        <p:txBody>
          <a:bodyPr wrap="square" lIns="0" tIns="0" rIns="0" bIns="0" rtlCol="0" anchor="t"/>
          <a:lstStyle/>
          <a:p>
            <a:pPr indent="0" marL="0">
              <a:spcAft>
                <a:spcPts val="800"/>
              </a:spcAft>
              <a:buNone/>
            </a:pPr>
            <a:r>
              <a:rPr lang="en-US" sz="2200" b="1" dirty="0">
                <a:solidFill>
                  <a:schemeClr val="accent4"/>
                </a:solidFill>
              </a:rPr>
              <a:t>Not yet done</a:t>
            </a:r>
            <a:endParaRPr lang="en-US" sz="2200" dirty="0"/>
          </a:p>
          <a:p>
            <a:pPr marL="342900" indent="-342900">
              <a:spcAft>
                <a:spcPts val="600"/>
              </a:spcAft>
              <a:buSzPct val="100000"/>
              <a:buChar char="•"/>
            </a:pPr>
            <a:r>
              <a:rPr lang="en-US" sz="1600" dirty="0">
                <a:solidFill>
                  <a:schemeClr val="bg1"/>
                </a:solidFill>
              </a:rPr>
              <a:t>A benchmark run (LIAR first, then FEVER)</a:t>
            </a:r>
            <a:endParaRPr lang="en-US" sz="2200" dirty="0"/>
          </a:p>
          <a:p>
            <a:pPr marL="342900" indent="-342900">
              <a:spcAft>
                <a:spcPts val="600"/>
              </a:spcAft>
              <a:buSzPct val="100000"/>
              <a:buChar char="•"/>
            </a:pPr>
            <a:r>
              <a:rPr lang="en-US" sz="1600" dirty="0">
                <a:solidFill>
                  <a:schemeClr val="bg1"/>
                </a:solidFill>
              </a:rPr>
              <a:t>Calibrated confidence on a held-out split</a:t>
            </a:r>
            <a:endParaRPr lang="en-US" sz="2200" dirty="0"/>
          </a:p>
          <a:p>
            <a:pPr marL="342900" indent="-342900">
              <a:spcAft>
                <a:spcPts val="600"/>
              </a:spcAft>
              <a:buSzPct val="100000"/>
              <a:buChar char="•"/>
            </a:pPr>
            <a:r>
              <a:rPr lang="en-US" sz="1600" dirty="0">
                <a:solidFill>
                  <a:schemeClr val="bg1"/>
                </a:solidFill>
              </a:rPr>
              <a:t>Media benchmarks for images, video and audio</a:t>
            </a:r>
            <a:endParaRPr lang="en-US" sz="2200" dirty="0"/>
          </a:p>
          <a:p>
            <a:pPr marL="342900" indent="-342900">
              <a:spcAft>
                <a:spcPts val="600"/>
              </a:spcAft>
              <a:buSzPct val="100000"/>
              <a:buChar char="•"/>
            </a:pPr>
            <a:r>
              <a:rPr lang="en-US" sz="1600" dirty="0">
                <a:solidFill>
                  <a:schemeClr val="bg1"/>
                </a:solidFill>
              </a:rPr>
              <a:t>Threshold tuning against real results</a:t>
            </a:r>
            <a:endParaRPr lang="en-US" sz="2200" dirty="0"/>
          </a:p>
        </p:txBody>
      </p:sp>
      <p:sp>
        <p:nvSpPr>
          <p:cNvPr id="9" name="Honesty banner"/>
          <p:cNvSpPr/>
          <p:nvPr/>
        </p:nvSpPr>
        <p:spPr>
          <a:xfrm>
            <a:off x="640080" y="4846320"/>
            <a:ext cx="10911535" cy="822960"/>
          </a:xfrm>
          <a:prstGeom prst="roundRect">
            <a:avLst>
              <a:gd name="adj" fmla="val 13333"/>
            </a:avLst>
          </a:prstGeom>
          <a:solidFill>
            <a:schemeClr val="accent1"/>
          </a:solidFill>
          <a:ln/>
        </p:spPr>
      </p:sp>
      <p:sp>
        <p:nvSpPr>
          <p:cNvPr id="10" name="Honesty banner text"/>
          <p:cNvSpPr txBox="1"/>
          <p:nvPr/>
        </p:nvSpPr>
        <p:spPr>
          <a:xfrm>
            <a:off x="914400" y="4846320"/>
            <a:ext cx="10362895" cy="822960"/>
          </a:xfrm>
          <a:prstGeom prst="rect">
            <a:avLst/>
          </a:prstGeom>
          <a:noFill/>
          <a:ln/>
        </p:spPr>
        <p:txBody>
          <a:bodyPr wrap="square" lIns="0" tIns="0" rIns="0" bIns="0" rtlCol="0" anchor="ctr"/>
          <a:lstStyle/>
          <a:p>
            <a:pPr indent="0" marL="0">
              <a:buNone/>
            </a:pPr>
            <a:r>
              <a:rPr lang="en-US" sz="2000" b="1" dirty="0">
                <a:solidFill>
                  <a:schemeClr val="tx1"/>
                </a:solidFill>
              </a:rPr>
              <a:t>No accuracy numbers are quoted here, because none have been measured yet.</a:t>
            </a:r>
            <a:endParaRPr lang="en-US" sz="20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LIMITATIONS</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Known weaknesses</a:t>
            </a:r>
            <a:endParaRPr lang="en-US" sz="3600" dirty="0"/>
          </a:p>
        </p:txBody>
      </p:sp>
      <p:sp>
        <p:nvSpPr>
          <p:cNvPr id="5" name="Card"/>
          <p:cNvSpPr/>
          <p:nvPr/>
        </p:nvSpPr>
        <p:spPr>
          <a:xfrm>
            <a:off x="640080" y="1828800"/>
            <a:ext cx="5318608" cy="1188720"/>
          </a:xfrm>
          <a:prstGeom prst="roundRect">
            <a:avLst>
              <a:gd name="adj" fmla="val 9231"/>
            </a:avLst>
          </a:prstGeom>
          <a:solidFill>
            <a:schemeClr val="tx2"/>
          </a:solidFill>
          <a:ln w="12700">
            <a:solidFill>
              <a:schemeClr val="accent5"/>
            </a:solidFill>
            <a:prstDash val="solid"/>
          </a:ln>
        </p:spPr>
      </p:sp>
      <p:sp>
        <p:nvSpPr>
          <p:cNvPr id="6" name="Limitation"/>
          <p:cNvSpPr txBox="1"/>
          <p:nvPr/>
        </p:nvSpPr>
        <p:spPr>
          <a:xfrm>
            <a:off x="914400" y="1828800"/>
            <a:ext cx="4769968" cy="1188720"/>
          </a:xfrm>
          <a:prstGeom prst="rect">
            <a:avLst/>
          </a:prstGeom>
          <a:noFill/>
          <a:ln/>
        </p:spPr>
        <p:txBody>
          <a:bodyPr wrap="square" lIns="0" tIns="0" rIns="0" bIns="0" rtlCol="0" anchor="ctr"/>
          <a:lstStyle/>
          <a:p>
            <a:pPr indent="0" marL="0">
              <a:buNone/>
            </a:pPr>
            <a:r>
              <a:rPr lang="en-US" sz="1400" dirty="0">
                <a:solidFill>
                  <a:schemeClr val="accent4"/>
                </a:solidFill>
                <a:latin typeface="Courier New" pitchFamily="34" charset="0"/>
                <a:ea typeface="Courier New" pitchFamily="34" charset="-122"/>
                <a:cs typeface="Courier New" pitchFamily="34" charset="-120"/>
              </a:rPr>
              <a:t>01   </a:t>
            </a:r>
            <a:pPr indent="0" marL="0">
              <a:buNone/>
            </a:pPr>
            <a:r>
              <a:rPr lang="en-US" sz="1800" dirty="0">
                <a:solidFill>
                  <a:schemeClr val="bg1"/>
                </a:solidFill>
              </a:rPr>
              <a:t>Confidence is a heuristic, not a probability.</a:t>
            </a:r>
            <a:endParaRPr lang="en-US" sz="1400" dirty="0"/>
          </a:p>
        </p:txBody>
      </p:sp>
      <p:sp>
        <p:nvSpPr>
          <p:cNvPr id="7" name="Card"/>
          <p:cNvSpPr/>
          <p:nvPr/>
        </p:nvSpPr>
        <p:spPr>
          <a:xfrm>
            <a:off x="6233008" y="1828800"/>
            <a:ext cx="5318608" cy="1188720"/>
          </a:xfrm>
          <a:prstGeom prst="roundRect">
            <a:avLst>
              <a:gd name="adj" fmla="val 9231"/>
            </a:avLst>
          </a:prstGeom>
          <a:solidFill>
            <a:schemeClr val="tx2"/>
          </a:solidFill>
          <a:ln w="12700">
            <a:solidFill>
              <a:schemeClr val="accent5"/>
            </a:solidFill>
            <a:prstDash val="solid"/>
          </a:ln>
        </p:spPr>
      </p:sp>
      <p:sp>
        <p:nvSpPr>
          <p:cNvPr id="8" name="Limitation"/>
          <p:cNvSpPr txBox="1"/>
          <p:nvPr/>
        </p:nvSpPr>
        <p:spPr>
          <a:xfrm>
            <a:off x="6507328" y="1828800"/>
            <a:ext cx="4769968" cy="1188720"/>
          </a:xfrm>
          <a:prstGeom prst="rect">
            <a:avLst/>
          </a:prstGeom>
          <a:noFill/>
          <a:ln/>
        </p:spPr>
        <p:txBody>
          <a:bodyPr wrap="square" lIns="0" tIns="0" rIns="0" bIns="0" rtlCol="0" anchor="ctr"/>
          <a:lstStyle/>
          <a:p>
            <a:pPr indent="0" marL="0">
              <a:buNone/>
            </a:pPr>
            <a:r>
              <a:rPr lang="en-US" sz="1400" dirty="0">
                <a:solidFill>
                  <a:schemeClr val="accent4"/>
                </a:solidFill>
                <a:latin typeface="Courier New" pitchFamily="34" charset="0"/>
                <a:ea typeface="Courier New" pitchFamily="34" charset="-122"/>
                <a:cs typeface="Courier New" pitchFamily="34" charset="-120"/>
              </a:rPr>
              <a:t>02   </a:t>
            </a:r>
            <a:pPr indent="0" marL="0">
              <a:buNone/>
            </a:pPr>
            <a:r>
              <a:rPr lang="en-US" sz="1800" dirty="0">
                <a:solidFill>
                  <a:schemeClr val="bg1"/>
                </a:solidFill>
              </a:rPr>
              <a:t>Credibility uses rule-based priors, not licensed ratings.</a:t>
            </a:r>
            <a:endParaRPr lang="en-US" sz="1400" dirty="0"/>
          </a:p>
        </p:txBody>
      </p:sp>
      <p:sp>
        <p:nvSpPr>
          <p:cNvPr id="9" name="Card"/>
          <p:cNvSpPr/>
          <p:nvPr/>
        </p:nvSpPr>
        <p:spPr>
          <a:xfrm>
            <a:off x="640080" y="3200400"/>
            <a:ext cx="5318608" cy="1188720"/>
          </a:xfrm>
          <a:prstGeom prst="roundRect">
            <a:avLst>
              <a:gd name="adj" fmla="val 9231"/>
            </a:avLst>
          </a:prstGeom>
          <a:solidFill>
            <a:schemeClr val="tx2"/>
          </a:solidFill>
          <a:ln w="12700">
            <a:solidFill>
              <a:schemeClr val="accent5"/>
            </a:solidFill>
            <a:prstDash val="solid"/>
          </a:ln>
        </p:spPr>
      </p:sp>
      <p:sp>
        <p:nvSpPr>
          <p:cNvPr id="10" name="Limitation"/>
          <p:cNvSpPr txBox="1"/>
          <p:nvPr/>
        </p:nvSpPr>
        <p:spPr>
          <a:xfrm>
            <a:off x="914400" y="3200400"/>
            <a:ext cx="4769968" cy="1188720"/>
          </a:xfrm>
          <a:prstGeom prst="rect">
            <a:avLst/>
          </a:prstGeom>
          <a:noFill/>
          <a:ln/>
        </p:spPr>
        <p:txBody>
          <a:bodyPr wrap="square" lIns="0" tIns="0" rIns="0" bIns="0" rtlCol="0" anchor="ctr"/>
          <a:lstStyle/>
          <a:p>
            <a:pPr indent="0" marL="0">
              <a:buNone/>
            </a:pPr>
            <a:r>
              <a:rPr lang="en-US" sz="1400" dirty="0">
                <a:solidFill>
                  <a:schemeClr val="accent4"/>
                </a:solidFill>
                <a:latin typeface="Courier New" pitchFamily="34" charset="0"/>
                <a:ea typeface="Courier New" pitchFamily="34" charset="-122"/>
                <a:cs typeface="Courier New" pitchFamily="34" charset="-120"/>
              </a:rPr>
              <a:t>03   </a:t>
            </a:r>
            <a:pPr indent="0" marL="0">
              <a:buNone/>
            </a:pPr>
            <a:r>
              <a:rPr lang="en-US" sz="1800" dirty="0">
                <a:solidFill>
                  <a:schemeClr val="bg1"/>
                </a:solidFill>
              </a:rPr>
              <a:t>Stance is judged by an LLM on short passages; free models are weaker.</a:t>
            </a:r>
            <a:endParaRPr lang="en-US" sz="1400" dirty="0"/>
          </a:p>
        </p:txBody>
      </p:sp>
      <p:sp>
        <p:nvSpPr>
          <p:cNvPr id="11" name="Card"/>
          <p:cNvSpPr/>
          <p:nvPr/>
        </p:nvSpPr>
        <p:spPr>
          <a:xfrm>
            <a:off x="6233008" y="3200400"/>
            <a:ext cx="5318608" cy="1188720"/>
          </a:xfrm>
          <a:prstGeom prst="roundRect">
            <a:avLst>
              <a:gd name="adj" fmla="val 9231"/>
            </a:avLst>
          </a:prstGeom>
          <a:solidFill>
            <a:schemeClr val="tx2"/>
          </a:solidFill>
          <a:ln w="12700">
            <a:solidFill>
              <a:schemeClr val="accent5"/>
            </a:solidFill>
            <a:prstDash val="solid"/>
          </a:ln>
        </p:spPr>
      </p:sp>
      <p:sp>
        <p:nvSpPr>
          <p:cNvPr id="12" name="Limitation"/>
          <p:cNvSpPr txBox="1"/>
          <p:nvPr/>
        </p:nvSpPr>
        <p:spPr>
          <a:xfrm>
            <a:off x="6507328" y="3200400"/>
            <a:ext cx="4769968" cy="1188720"/>
          </a:xfrm>
          <a:prstGeom prst="rect">
            <a:avLst/>
          </a:prstGeom>
          <a:noFill/>
          <a:ln/>
        </p:spPr>
        <p:txBody>
          <a:bodyPr wrap="square" lIns="0" tIns="0" rIns="0" bIns="0" rtlCol="0" anchor="ctr"/>
          <a:lstStyle/>
          <a:p>
            <a:pPr indent="0" marL="0">
              <a:buNone/>
            </a:pPr>
            <a:r>
              <a:rPr lang="en-US" sz="1400" dirty="0">
                <a:solidFill>
                  <a:schemeClr val="accent4"/>
                </a:solidFill>
                <a:latin typeface="Courier New" pitchFamily="34" charset="0"/>
                <a:ea typeface="Courier New" pitchFamily="34" charset="-122"/>
                <a:cs typeface="Courier New" pitchFamily="34" charset="-120"/>
              </a:rPr>
              <a:t>04   </a:t>
            </a:r>
            <a:pPr indent="0" marL="0">
              <a:buNone/>
            </a:pPr>
            <a:r>
              <a:rPr lang="en-US" sz="1800" dirty="0">
                <a:solidFill>
                  <a:schemeClr val="bg1"/>
                </a:solidFill>
              </a:rPr>
              <a:t>Free web search is unofficial and can fail or skew.</a:t>
            </a:r>
            <a:endParaRPr lang="en-US" sz="1400" dirty="0"/>
          </a:p>
        </p:txBody>
      </p:sp>
      <p:sp>
        <p:nvSpPr>
          <p:cNvPr id="13" name="Card"/>
          <p:cNvSpPr/>
          <p:nvPr/>
        </p:nvSpPr>
        <p:spPr>
          <a:xfrm>
            <a:off x="640080" y="4572000"/>
            <a:ext cx="5318608" cy="1188720"/>
          </a:xfrm>
          <a:prstGeom prst="roundRect">
            <a:avLst>
              <a:gd name="adj" fmla="val 9231"/>
            </a:avLst>
          </a:prstGeom>
          <a:solidFill>
            <a:schemeClr val="tx2"/>
          </a:solidFill>
          <a:ln w="12700">
            <a:solidFill>
              <a:schemeClr val="accent5"/>
            </a:solidFill>
            <a:prstDash val="solid"/>
          </a:ln>
        </p:spPr>
      </p:sp>
      <p:sp>
        <p:nvSpPr>
          <p:cNvPr id="14" name="Limitation"/>
          <p:cNvSpPr txBox="1"/>
          <p:nvPr/>
        </p:nvSpPr>
        <p:spPr>
          <a:xfrm>
            <a:off x="914400" y="4572000"/>
            <a:ext cx="4769968" cy="1188720"/>
          </a:xfrm>
          <a:prstGeom prst="rect">
            <a:avLst/>
          </a:prstGeom>
          <a:noFill/>
          <a:ln/>
        </p:spPr>
        <p:txBody>
          <a:bodyPr wrap="square" lIns="0" tIns="0" rIns="0" bIns="0" rtlCol="0" anchor="ctr"/>
          <a:lstStyle/>
          <a:p>
            <a:pPr indent="0" marL="0">
              <a:buNone/>
            </a:pPr>
            <a:r>
              <a:rPr lang="en-US" sz="1400" dirty="0">
                <a:solidFill>
                  <a:schemeClr val="accent4"/>
                </a:solidFill>
                <a:latin typeface="Courier New" pitchFamily="34" charset="0"/>
                <a:ea typeface="Courier New" pitchFamily="34" charset="-122"/>
                <a:cs typeface="Courier New" pitchFamily="34" charset="-120"/>
              </a:rPr>
              <a:t>05   </a:t>
            </a:r>
            <a:pPr indent="0" marL="0">
              <a:buNone/>
            </a:pPr>
            <a:r>
              <a:rPr lang="en-US" sz="1800" dirty="0">
                <a:solidFill>
                  <a:schemeClr val="bg1"/>
                </a:solidFill>
              </a:rPr>
              <a:t>Images, video and audio are not yet in the live flow.</a:t>
            </a:r>
            <a:endParaRPr lang="en-US" sz="1400" dirty="0"/>
          </a:p>
        </p:txBody>
      </p:sp>
      <p:sp>
        <p:nvSpPr>
          <p:cNvPr id="15" name="Card"/>
          <p:cNvSpPr/>
          <p:nvPr/>
        </p:nvSpPr>
        <p:spPr>
          <a:xfrm>
            <a:off x="6233008" y="4572000"/>
            <a:ext cx="5318608" cy="1188720"/>
          </a:xfrm>
          <a:prstGeom prst="roundRect">
            <a:avLst>
              <a:gd name="adj" fmla="val 9231"/>
            </a:avLst>
          </a:prstGeom>
          <a:solidFill>
            <a:schemeClr val="tx2"/>
          </a:solidFill>
          <a:ln w="12700">
            <a:solidFill>
              <a:schemeClr val="accent5"/>
            </a:solidFill>
            <a:prstDash val="solid"/>
          </a:ln>
        </p:spPr>
      </p:sp>
      <p:sp>
        <p:nvSpPr>
          <p:cNvPr id="16" name="Limitation"/>
          <p:cNvSpPr txBox="1"/>
          <p:nvPr/>
        </p:nvSpPr>
        <p:spPr>
          <a:xfrm>
            <a:off x="6507328" y="4572000"/>
            <a:ext cx="4769968" cy="1188720"/>
          </a:xfrm>
          <a:prstGeom prst="rect">
            <a:avLst/>
          </a:prstGeom>
          <a:noFill/>
          <a:ln/>
        </p:spPr>
        <p:txBody>
          <a:bodyPr wrap="square" lIns="0" tIns="0" rIns="0" bIns="0" rtlCol="0" anchor="ctr"/>
          <a:lstStyle/>
          <a:p>
            <a:pPr indent="0" marL="0">
              <a:buNone/>
            </a:pPr>
            <a:r>
              <a:rPr lang="en-US" sz="1400" dirty="0">
                <a:solidFill>
                  <a:schemeClr val="accent4"/>
                </a:solidFill>
                <a:latin typeface="Courier New" pitchFamily="34" charset="0"/>
                <a:ea typeface="Courier New" pitchFamily="34" charset="-122"/>
                <a:cs typeface="Courier New" pitchFamily="34" charset="-120"/>
              </a:rPr>
              <a:t>06   </a:t>
            </a:r>
            <a:pPr indent="0" marL="0">
              <a:buNone/>
            </a:pPr>
            <a:r>
              <a:rPr lang="en-US" sz="1800" dirty="0">
                <a:solidFill>
                  <a:schemeClr val="bg1"/>
                </a:solidFill>
              </a:rPr>
              <a:t>Live-web evaluation drifts over time and can leak answers.</a:t>
            </a:r>
            <a:endParaRPr lang="en-US" sz="14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Eyebrow"/>
          <p:cNvSpPr txBox="1"/>
          <p:nvPr/>
        </p:nvSpPr>
        <p:spPr>
          <a:xfrm>
            <a:off x="640080" y="502920"/>
            <a:ext cx="7315200" cy="274320"/>
          </a:xfrm>
          <a:prstGeom prst="rect">
            <a:avLst/>
          </a:prstGeom>
          <a:noFill/>
          <a:ln/>
        </p:spPr>
        <p:txBody>
          <a:bodyPr wrap="square" lIns="0" tIns="0" rIns="0" bIns="0" rtlCol="0" anchor="ctr"/>
          <a:lstStyle/>
          <a:p>
            <a:pPr indent="0" marL="0">
              <a:buNone/>
            </a:pPr>
            <a:r>
              <a:rPr lang="en-US" sz="1200" spc="300" kern="0" dirty="0">
                <a:solidFill>
                  <a:schemeClr val="accent1"/>
                </a:solidFill>
                <a:latin typeface="Courier New" pitchFamily="34" charset="0"/>
                <a:ea typeface="Courier New" pitchFamily="34" charset="-122"/>
                <a:cs typeface="Courier New" pitchFamily="34" charset="-120"/>
              </a:rPr>
              <a:t>ROADMAP</a:t>
            </a:r>
            <a:endParaRPr lang="en-US" sz="1200" dirty="0"/>
          </a:p>
        </p:txBody>
      </p:sp>
      <p:sp>
        <p:nvSpPr>
          <p:cNvPr id="4" name="Text 1"/>
          <p:cNvSpPr/>
          <p:nvPr>
            <p:ph idx="101" type="title" hasCustomPrompt="1"/>
          </p:nvPr>
        </p:nvSpPr>
        <p:spPr>
          <a:xfrm>
            <a:off x="640080" y="868680"/>
            <a:ext cx="10911535" cy="777240"/>
          </a:xfrm>
          <a:prstGeom prst="rect">
            <a:avLst/>
          </a:prstGeom>
          <a:noFill/>
          <a:ln/>
        </p:spPr>
        <p:txBody>
          <a:bodyPr wrap="square" lIns="0" tIns="0" rIns="0" bIns="0" rtlCol="0" anchor="t"/>
          <a:lstStyle/>
          <a:p>
            <a:pPr algn="l" indent="0" marL="0">
              <a:buNone/>
            </a:pPr>
            <a:r>
              <a:rPr lang="en-US" sz="3600" b="1" dirty="0">
                <a:solidFill>
                  <a:schemeClr val="bg1"/>
                </a:solidFill>
              </a:rPr>
              <a:t>Seven milestones, honestly staged</a:t>
            </a:r>
            <a:endParaRPr lang="en-US" sz="3600" dirty="0"/>
          </a:p>
        </p:txBody>
      </p:sp>
      <p:graphicFrame>
        <p:nvGraphicFramePr>
          <p:cNvPr id="14" name="Roadmap table"/>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822960"/>
                <a:gridCol w="5852160"/>
                <a:gridCol w="4233672"/>
              </a:tblGrid>
              <a:tr h="475488">
                <a:tc>
                  <a:txBody>
                    <a:bodyPr/>
                    <a:lstStyle/>
                    <a:p>
                      <a:pPr indent="0" marL="0">
                        <a:buNone/>
                      </a:pPr>
                      <a:r>
                        <a:rPr lang="en-US" sz="1700" b="1" dirty="0">
                          <a:solidFill>
                            <a:schemeClr val="accent1"/>
                          </a:solidFill>
                        </a:rPr>
                        <a:t>#</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700" b="1" dirty="0">
                          <a:solidFill>
                            <a:schemeClr val="accent1"/>
                          </a:solidFill>
                        </a:rPr>
                        <a:t>Milestone</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c>
                  <a:txBody>
                    <a:bodyPr/>
                    <a:lstStyle/>
                    <a:p>
                      <a:pPr indent="0" marL="0">
                        <a:buNone/>
                      </a:pPr>
                      <a:r>
                        <a:rPr lang="en-US" sz="1700" b="1" dirty="0">
                          <a:solidFill>
                            <a:schemeClr val="accent1"/>
                          </a:solidFill>
                        </a:rPr>
                        <a:t>Status</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1"/>
                    </a:solidFill>
                  </a:tcPr>
                </a:tc>
              </a:tr>
              <a:tr h="475488">
                <a:tc>
                  <a:txBody>
                    <a:bodyPr/>
                    <a:lstStyle/>
                    <a:p>
                      <a:pPr indent="0" marL="0">
                        <a:buNone/>
                      </a:pPr>
                      <a:r>
                        <a:rPr lang="en-US" sz="1700" dirty="0">
                          <a:solidFill>
                            <a:schemeClr val="bg1"/>
                          </a:solidFill>
                        </a:rPr>
                        <a:t>1</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Text and URL pipeline with evidence UI</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 Built</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475488">
                <a:tc>
                  <a:txBody>
                    <a:bodyPr/>
                    <a:lstStyle/>
                    <a:p>
                      <a:pPr indent="0" marL="0">
                        <a:buNone/>
                      </a:pPr>
                      <a:r>
                        <a:rPr lang="en-US" sz="1700" dirty="0">
                          <a:solidFill>
                            <a:schemeClr val="bg1"/>
                          </a:solidFill>
                        </a:rPr>
                        <a:t>2</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Image pipeline</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 Partial: ELA and noise forensics</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475488">
                <a:tc>
                  <a:txBody>
                    <a:bodyPr/>
                    <a:lstStyle/>
                    <a:p>
                      <a:pPr indent="0" marL="0">
                        <a:buNone/>
                      </a:pPr>
                      <a:r>
                        <a:rPr lang="en-US" sz="1700" dirty="0">
                          <a:solidFill>
                            <a:schemeClr val="bg1"/>
                          </a:solidFill>
                        </a:rPr>
                        <a:t>3</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Audio and video</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 Planned</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475488">
                <a:tc>
                  <a:txBody>
                    <a:bodyPr/>
                    <a:lstStyle/>
                    <a:p>
                      <a:pPr indent="0" marL="0">
                        <a:buNone/>
                      </a:pPr>
                      <a:r>
                        <a:rPr lang="en-US" sz="1700" dirty="0">
                          <a:solidFill>
                            <a:schemeClr val="bg1"/>
                          </a:solidFill>
                        </a:rPr>
                        <a:t>4</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Fusion and calibration</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 Planned</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475488">
                <a:tc>
                  <a:txBody>
                    <a:bodyPr/>
                    <a:lstStyle/>
                    <a:p>
                      <a:pPr indent="0" marL="0">
                        <a:buNone/>
                      </a:pPr>
                      <a:r>
                        <a:rPr lang="en-US" sz="1700" dirty="0">
                          <a:solidFill>
                            <a:schemeClr val="bg1"/>
                          </a:solidFill>
                        </a:rPr>
                        <a:t>5</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Evaluation runs</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 Tooling built, runs pending</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475488">
                <a:tc>
                  <a:txBody>
                    <a:bodyPr/>
                    <a:lstStyle/>
                    <a:p>
                      <a:pPr indent="0" marL="0">
                        <a:buNone/>
                      </a:pPr>
                      <a:r>
                        <a:rPr lang="en-US" sz="1700" dirty="0">
                          <a:solidFill>
                            <a:schemeClr val="bg1"/>
                          </a:solidFill>
                        </a:rPr>
                        <a:t>6</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Interface polish</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 Partial</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r h="475488">
                <a:tc>
                  <a:txBody>
                    <a:bodyPr/>
                    <a:lstStyle/>
                    <a:p>
                      <a:pPr indent="0" marL="0">
                        <a:buNone/>
                      </a:pPr>
                      <a:r>
                        <a:rPr lang="en-US" sz="1700" dirty="0">
                          <a:solidFill>
                            <a:schemeClr val="bg1"/>
                          </a:solidFill>
                        </a:rPr>
                        <a:t>7</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Hardening: rate limits, retention, auth</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c>
                  <a:txBody>
                    <a:bodyPr/>
                    <a:lstStyle/>
                    <a:p>
                      <a:pPr indent="0" marL="0">
                        <a:buNone/>
                      </a:pPr>
                      <a:r>
                        <a:rPr lang="en-US" sz="1700" dirty="0">
                          <a:solidFill>
                            <a:schemeClr val="bg1"/>
                          </a:solidFill>
                        </a:rPr>
                        <a:t>○ Planned</a:t>
                      </a:r>
                      <a:endParaRPr lang="en-US" sz="1700" dirty="0"/>
                    </a:p>
                  </a:txBody>
                  <a:tcPr marL="109728" marR="109728" marT="54864" marB="54864" anchor="ctr">
                    <a:lnL w="0" cap="flat" cmpd="sng" algn="ctr">
                      <a:noFill/>
                    </a:lnL>
                    <a:lnR w="0" cap="flat" cmpd="sng" algn="ctr">
                      <a:noFill/>
                    </a:lnR>
                    <a:lnT w="0" cap="flat" cmpd="sng" algn="ctr">
                      <a:noFill/>
                    </a:lnT>
                    <a:lnB w="12700" cap="flat" cmpd="sng" algn="ctr">
                      <a:solidFill>
                        <a:schemeClr val="accent5"/>
                      </a:solidFill>
                      <a:prstDash val="solid"/>
                      <a:round/>
                      <a:headEnd type="none" w="med" len="med"/>
                      <a:tailEnd type="none" w="med" len="med"/>
                    </a:lnB>
                    <a:solidFill>
                      <a:schemeClr val="tx2"/>
                    </a:solidFill>
                  </a:tcPr>
                </a:tc>
              </a:tr>
            </a:tbl>
          </a:graphicData>
        </a:graphic>
      </p:graphicFrame>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latin typeface="Courier New"/>
                <a:ea typeface="Courier New"/>
                <a:cs typeface="Courier New"/>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Eyebrow"/>
          <p:cNvSpPr txBox="1"/>
          <p:nvPr/>
        </p:nvSpPr>
        <p:spPr>
          <a:xfrm>
            <a:off x="640080" y="1097280"/>
            <a:ext cx="7315200" cy="274320"/>
          </a:xfrm>
          <a:prstGeom prst="rect">
            <a:avLst/>
          </a:prstGeom>
          <a:noFill/>
          <a:ln/>
        </p:spPr>
        <p:txBody>
          <a:bodyPr wrap="square" lIns="0" tIns="0" rIns="0" bIns="0" rtlCol="0" anchor="ctr"/>
          <a:lstStyle/>
          <a:p>
            <a:pPr indent="0" marL="0">
              <a:buNone/>
            </a:pPr>
            <a:r>
              <a:rPr lang="en-US" sz="1200" spc="300" kern="0" dirty="0">
                <a:solidFill>
                  <a:schemeClr val="tx2"/>
                </a:solidFill>
                <a:latin typeface="Courier New" pitchFamily="34" charset="0"/>
                <a:ea typeface="Courier New" pitchFamily="34" charset="-122"/>
                <a:cs typeface="Courier New" pitchFamily="34" charset="-120"/>
              </a:rPr>
              <a:t>LIVE DEMO</a:t>
            </a:r>
            <a:endParaRPr lang="en-US" sz="1200" dirty="0"/>
          </a:p>
        </p:txBody>
      </p:sp>
      <p:sp>
        <p:nvSpPr>
          <p:cNvPr id="4" name="Text 0"/>
          <p:cNvSpPr/>
          <p:nvPr>
            <p:ph idx="100" type="title" hasCustomPrompt="1"/>
          </p:nvPr>
        </p:nvSpPr>
        <p:spPr>
          <a:xfrm>
            <a:off x="640080" y="1737360"/>
            <a:ext cx="10607040" cy="1737360"/>
          </a:xfrm>
          <a:prstGeom prst="rect">
            <a:avLst/>
          </a:prstGeom>
          <a:noFill/>
          <a:ln/>
        </p:spPr>
        <p:txBody>
          <a:bodyPr wrap="square" lIns="0" tIns="0" rIns="0" bIns="0" rtlCol="0" anchor="t"/>
          <a:lstStyle/>
          <a:p>
            <a:pPr algn="l" indent="0" marL="0">
              <a:buNone/>
            </a:pPr>
            <a:r>
              <a:rPr lang="en-US" sz="6600" dirty="0">
                <a:solidFill>
                  <a:schemeClr val="tx1"/>
                </a:solidFill>
              </a:rPr>
              <a:t>Claim in, evidence out.</a:t>
            </a:r>
            <a:endParaRPr lang="en-US" sz="6600" dirty="0"/>
          </a:p>
        </p:txBody>
      </p:sp>
      <p:sp>
        <p:nvSpPr>
          <p:cNvPr id="5" name="Demo body"/>
          <p:cNvSpPr txBox="1"/>
          <p:nvPr/>
        </p:nvSpPr>
        <p:spPr>
          <a:xfrm>
            <a:off x="640080" y="3749040"/>
            <a:ext cx="9601200" cy="822960"/>
          </a:xfrm>
          <a:prstGeom prst="rect">
            <a:avLst/>
          </a:prstGeom>
          <a:noFill/>
          <a:ln/>
        </p:spPr>
        <p:txBody>
          <a:bodyPr wrap="square" lIns="0" tIns="0" rIns="0" bIns="0" rtlCol="0" anchor="t"/>
          <a:lstStyle/>
          <a:p>
            <a:pPr indent="0" marL="0">
              <a:buNone/>
            </a:pPr>
            <a:r>
              <a:rPr lang="en-US" sz="2200" dirty="0">
                <a:solidFill>
                  <a:schemeClr val="tx2"/>
                </a:solidFill>
              </a:rPr>
              <a:t>Watch the pipeline run, open the evidence, and read the reasoning behind the verdict.</a:t>
            </a:r>
            <a:endParaRPr lang="en-US" sz="2200" dirty="0"/>
          </a:p>
        </p:txBody>
      </p:sp>
      <p:sp>
        <p:nvSpPr>
          <p:cNvPr id="6" name="Questions"/>
          <p:cNvSpPr txBox="1"/>
          <p:nvPr/>
        </p:nvSpPr>
        <p:spPr>
          <a:xfrm>
            <a:off x="640080" y="4846320"/>
            <a:ext cx="7315200" cy="731520"/>
          </a:xfrm>
          <a:prstGeom prst="rect">
            <a:avLst/>
          </a:prstGeom>
          <a:noFill/>
          <a:ln/>
        </p:spPr>
        <p:txBody>
          <a:bodyPr wrap="square" lIns="0" tIns="0" rIns="0" bIns="0" rtlCol="0" anchor="t"/>
          <a:lstStyle/>
          <a:p>
            <a:pPr indent="0" marL="0">
              <a:buNone/>
            </a:pPr>
            <a:r>
              <a:rPr lang="en-US" sz="3600" dirty="0">
                <a:solidFill>
                  <a:schemeClr val="tx1"/>
                </a:solidFill>
                <a:latin typeface="Cambria" pitchFamily="34" charset="0"/>
                <a:ea typeface="Cambria" pitchFamily="34" charset="-122"/>
                <a:cs typeface="Cambria" pitchFamily="34" charset="-120"/>
              </a:rPr>
              <a:t>Questions?</a:t>
            </a:r>
            <a:endParaRPr lang="en-US" sz="3600" dirty="0"/>
          </a:p>
        </p:txBody>
      </p:sp>
      <p:sp>
        <p:nvSpPr>
          <p:cNvPr id="7" name="Contact"/>
          <p:cNvSpPr txBox="1"/>
          <p:nvPr/>
        </p:nvSpPr>
        <p:spPr>
          <a:xfrm>
            <a:off x="640080" y="6172200"/>
            <a:ext cx="9144000" cy="27432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[Repository link or contact]</a:t>
            </a:r>
            <a:endParaRPr lang="en-US" sz="1200" dirty="0"/>
          </a:p>
        </p:txBody>
      </p:sp>
      <p:sp>
        <p:nvSpPr>
          <p:cNvPr id="25" name="Slide Number Placeholder 0"/>
          <p:cNvSpPr>
            <a:spLocks noGrp="1"/>
          </p:cNvSpPr>
          <p:nvPr>
            <p:ph type="sldNum" sz="quarter" idx="4294967295"/>
          </p:nvPr>
        </p:nvSpPr>
        <p:spPr>
          <a:xfrm>
            <a:off x="10607040" y="6355080"/>
            <a:ext cx="941832"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latin typeface="Courier New"/>
                <a:ea typeface="Courier New"/>
                <a:cs typeface="Courier New"/>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VeriFact Ink">
  <a:themeElements>
    <a:clrScheme name="VeriFact Ink">
      <a:dk1>
        <a:srgbClr val="0B0D0C"/>
      </a:dk1>
      <a:lt1>
        <a:srgbClr val="E8ECE4"/>
      </a:lt1>
      <a:dk2>
        <a:srgbClr val="151917"/>
      </a:dk2>
      <a:lt2>
        <a:srgbClr val="A4AEA6"/>
      </a:lt2>
      <a:accent1>
        <a:srgbClr val="C6F432"/>
      </a:accent1>
      <a:accent2>
        <a:srgbClr val="5ED6A0"/>
      </a:accent2>
      <a:accent3>
        <a:srgbClr val="FF6B57"/>
      </a:accent3>
      <a:accent4>
        <a:srgbClr val="FFB83C"/>
      </a:accent4>
      <a:accent5>
        <a:srgbClr val="2E3531"/>
      </a:accent5>
      <a:accent6>
        <a:srgbClr val="7E8A81"/>
      </a:accent6>
      <a:hlink>
        <a:srgbClr val="C6F432"/>
      </a:hlink>
      <a:folHlink>
        <a:srgbClr val="A4AEA6"/>
      </a:folHlink>
    </a:clrScheme>
    <a:fontScheme name="VeriFact In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VeriFact: Evidence-Grounded Misinformation Detection</dc:title>
  <dc:subject>PptxGenJS Presentation</dc:subject>
  <dc:creator>VeriFact</dc:creator>
  <cp:lastModifiedBy>VeriFact</cp:lastModifiedBy>
  <cp:revision>1</cp:revision>
  <dcterms:created xsi:type="dcterms:W3CDTF">2026-10-08T08:46:10Z</dcterms:created>
  <dcterms:modified xsi:type="dcterms:W3CDTF">2026-10-08T08:46:10Z</dcterms:modified>
</cp:coreProperties>
</file>